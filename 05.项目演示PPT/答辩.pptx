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3"/>
    <p:sldId id="321" r:id="rId4"/>
    <p:sldId id="432" r:id="rId5"/>
    <p:sldId id="405" r:id="rId6"/>
    <p:sldId id="409" r:id="rId7"/>
    <p:sldId id="433" r:id="rId8"/>
    <p:sldId id="434" r:id="rId9"/>
    <p:sldId id="410" r:id="rId10"/>
    <p:sldId id="411" r:id="rId11"/>
    <p:sldId id="412" r:id="rId12"/>
    <p:sldId id="414" r:id="rId13"/>
    <p:sldId id="415" r:id="rId14"/>
    <p:sldId id="416" r:id="rId15"/>
    <p:sldId id="417" r:id="rId16"/>
    <p:sldId id="419" r:id="rId17"/>
    <p:sldId id="421" r:id="rId18"/>
    <p:sldId id="420" r:id="rId20"/>
    <p:sldId id="422" r:id="rId21"/>
    <p:sldId id="423" r:id="rId22"/>
    <p:sldId id="424" r:id="rId23"/>
    <p:sldId id="427" r:id="rId24"/>
    <p:sldId id="426" r:id="rId25"/>
    <p:sldId id="428" r:id="rId26"/>
    <p:sldId id="429" r:id="rId27"/>
    <p:sldId id="430" r:id="rId28"/>
    <p:sldId id="431" r:id="rId29"/>
    <p:sldId id="263" r:id="rId30"/>
  </p:sldIdLst>
  <p:sldSz cx="12192000" cy="6858000"/>
  <p:notesSz cx="6858000" cy="9144000"/>
  <p:custDataLst>
    <p:tags r:id="rId3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F7F9"/>
    <a:srgbClr val="376EDD"/>
    <a:srgbClr val="ADD3F9"/>
    <a:srgbClr val="3FC1BE"/>
    <a:srgbClr val="FCC800"/>
    <a:srgbClr val="376EDC"/>
    <a:srgbClr val="EFEF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777" autoAdjust="0"/>
    <p:restoredTop sz="94660"/>
  </p:normalViewPr>
  <p:slideViewPr>
    <p:cSldViewPr snapToGrid="0">
      <p:cViewPr varScale="1">
        <p:scale>
          <a:sx n="110" d="100"/>
          <a:sy n="110" d="100"/>
        </p:scale>
        <p:origin x="23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4" Type="http://schemas.openxmlformats.org/officeDocument/2006/relationships/tags" Target="tags/tag35.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notesMaster" Target="notesMasters/notesMaster1.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tags" Target="../tags/tag1.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image" Target="../media/image4.png"/><Relationship Id="rId6" Type="http://schemas.openxmlformats.org/officeDocument/2006/relationships/image" Target="../media/image7.png"/><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image" Target="../media/image4.png"/><Relationship Id="rId3" Type="http://schemas.openxmlformats.org/officeDocument/2006/relationships/image" Target="../media/image7.png"/><Relationship Id="rId2" Type="http://schemas.openxmlformats.org/officeDocument/2006/relationships/tags" Target="../tags/tag1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8" name="图片 7" descr="辅助图形7"/>
          <p:cNvPicPr>
            <a:picLocks noChangeAspect="1"/>
          </p:cNvPicPr>
          <p:nvPr userDrawn="1"/>
        </p:nvPicPr>
        <p:blipFill>
          <a:blip r:embed="rId2"/>
          <a:stretch>
            <a:fillRect/>
          </a:stretch>
        </p:blipFill>
        <p:spPr>
          <a:xfrm>
            <a:off x="0" y="0"/>
            <a:ext cx="12192000" cy="6858000"/>
          </a:xfrm>
          <a:prstGeom prst="rect">
            <a:avLst/>
          </a:prstGeom>
        </p:spPr>
      </p:pic>
      <p:pic>
        <p:nvPicPr>
          <p:cNvPr id="9" name="图片 8" descr="LOGO_画板 1"/>
          <p:cNvPicPr>
            <a:picLocks noChangeAspect="1"/>
          </p:cNvPicPr>
          <p:nvPr userDrawn="1"/>
        </p:nvPicPr>
        <p:blipFill>
          <a:blip r:embed="rId3"/>
          <a:stretch>
            <a:fillRect/>
          </a:stretch>
        </p:blipFill>
        <p:spPr>
          <a:xfrm>
            <a:off x="0" y="217805"/>
            <a:ext cx="4109720" cy="116459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pic>
        <p:nvPicPr>
          <p:cNvPr id="6" name="图片 5" descr="辅助图形9"/>
          <p:cNvPicPr>
            <a:picLocks noChangeAspect="1"/>
          </p:cNvPicPr>
          <p:nvPr userDrawn="1"/>
        </p:nvPicPr>
        <p:blipFill>
          <a:blip r:embed="rId2"/>
          <a:stretch>
            <a:fillRect/>
          </a:stretch>
        </p:blipFill>
        <p:spPr>
          <a:xfrm>
            <a:off x="0" y="2419350"/>
            <a:ext cx="12192000" cy="3898900"/>
          </a:xfrm>
          <a:prstGeom prst="rect">
            <a:avLst/>
          </a:prstGeom>
        </p:spPr>
      </p:pic>
      <p:pic>
        <p:nvPicPr>
          <p:cNvPr id="7" name="图片 6" descr="教育集团LOGO-横版"/>
          <p:cNvPicPr>
            <a:picLocks noChangeAspect="1"/>
          </p:cNvPicPr>
          <p:nvPr userDrawn="1"/>
        </p:nvPicPr>
        <p:blipFill>
          <a:blip r:embed="rId3"/>
          <a:stretch>
            <a:fillRect/>
          </a:stretch>
        </p:blipFill>
        <p:spPr>
          <a:xfrm>
            <a:off x="8082915" y="219075"/>
            <a:ext cx="4109085" cy="1162050"/>
          </a:xfrm>
          <a:prstGeom prst="rect">
            <a:avLst/>
          </a:prstGeom>
        </p:spPr>
      </p:pic>
      <p:sp>
        <p:nvSpPr>
          <p:cNvPr id="8" name="标题 7"/>
          <p:cNvSpPr>
            <a:spLocks noGrp="1"/>
          </p:cNvSpPr>
          <p:nvPr>
            <p:ph type="title" hasCustomPrompt="1"/>
          </p:nvPr>
        </p:nvSpPr>
        <p:spPr>
          <a:xfrm>
            <a:off x="647065" y="2808605"/>
            <a:ext cx="1508760" cy="572770"/>
          </a:xfrm>
        </p:spPr>
        <p:txBody>
          <a:bodyPr/>
          <a:lstStyle>
            <a:lvl1pPr marL="0" marR="0" lvl="0" algn="l" defTabSz="914400" rtl="0" eaLnBrk="1" fontAlgn="auto" latinLnBrk="0" hangingPunct="1">
              <a:lnSpc>
                <a:spcPct val="100000"/>
              </a:lnSpc>
              <a:spcBef>
                <a:spcPct val="0"/>
              </a:spcBef>
              <a:buClrTx/>
              <a:buSzTx/>
              <a:buFontTx/>
              <a:buNone/>
              <a:defRPr kumimoji="0" lang="zh-CN" altLang="en-US" sz="3200" b="1" i="0" u="none" strike="noStrike" kern="1200" cap="none" spc="0" normalizeH="0" baseline="0" noProof="1">
                <a:solidFill>
                  <a:schemeClr val="tx1"/>
                </a:solidFill>
                <a:latin typeface="微软雅黑" panose="020B0503020204020204" charset="-122"/>
                <a:ea typeface="微软雅黑" panose="020B0503020204020204" charset="-122"/>
                <a:cs typeface="+mn-cs"/>
              </a:defRPr>
            </a:lvl1pPr>
          </a:lstStyle>
          <a:p>
            <a:r>
              <a:t>目录</a:t>
            </a:r>
          </a:p>
        </p:txBody>
      </p:sp>
      <p:sp>
        <p:nvSpPr>
          <p:cNvPr id="36" name="文本占位符 35"/>
          <p:cNvSpPr>
            <a:spLocks noGrp="1"/>
          </p:cNvSpPr>
          <p:nvPr>
            <p:ph type="body" sz="half" idx="2" hasCustomPrompt="1"/>
            <p:custDataLst>
              <p:tags r:id="rId4"/>
            </p:custDataLst>
          </p:nvPr>
        </p:nvSpPr>
        <p:spPr>
          <a:xfrm>
            <a:off x="5855970" y="2757805"/>
            <a:ext cx="5810250" cy="3196590"/>
          </a:xfrm>
        </p:spPr>
        <p:txBody>
          <a:bodyPr vert="horz" lIns="90000" tIns="46800" rIns="90000" bIns="46800" rtlCol="0">
            <a:normAutofit/>
          </a:bodyPr>
          <a:lstStyle>
            <a:lvl1pPr>
              <a:lnSpc>
                <a:spcPct val="140000"/>
              </a:lnSpc>
              <a:buNone/>
              <a:defRPr sz="1800" b="1">
                <a:solidFill>
                  <a:schemeClr val="bg1"/>
                </a:solidFill>
                <a:latin typeface="微软雅黑" panose="020B0503020204020204" charset="-122"/>
                <a:ea typeface="微软雅黑" panose="020B0503020204020204" charset="-122"/>
              </a:defRPr>
            </a:lvl1pPr>
          </a:lstStyle>
          <a:p>
            <a:pPr lvl="0"/>
            <a:r>
              <a:rPr lang="zh-CN" altLang="en-US" dirty="0">
                <a:sym typeface="+mn-ea"/>
              </a:rPr>
              <a:t>一、添加标题</a:t>
            </a:r>
            <a:endParaRPr dirty="0">
              <a:sym typeface="+mn-ea"/>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6" name="图片 5" descr="E:\20211011-VI手册\辅助图形\辅助图形2.png辅助图形2"/>
          <p:cNvPicPr>
            <a:picLocks noChangeAspect="1"/>
          </p:cNvPicPr>
          <p:nvPr userDrawn="1"/>
        </p:nvPicPr>
        <p:blipFill>
          <a:blip r:embed="rId2"/>
          <a:srcRect/>
          <a:stretch>
            <a:fillRect/>
          </a:stretch>
        </p:blipFill>
        <p:spPr>
          <a:xfrm>
            <a:off x="0" y="0"/>
            <a:ext cx="12192000" cy="863600"/>
          </a:xfrm>
          <a:prstGeom prst="rect">
            <a:avLst/>
          </a:prstGeom>
        </p:spPr>
      </p:pic>
      <p:pic>
        <p:nvPicPr>
          <p:cNvPr id="8" name="图片 7" descr="LOGO_画板 1"/>
          <p:cNvPicPr>
            <a:picLocks noChangeAspect="1"/>
          </p:cNvPicPr>
          <p:nvPr userDrawn="1"/>
        </p:nvPicPr>
        <p:blipFill>
          <a:blip r:embed="rId3"/>
          <a:stretch>
            <a:fillRect/>
          </a:stretch>
        </p:blipFill>
        <p:spPr>
          <a:xfrm>
            <a:off x="9152890" y="0"/>
            <a:ext cx="3056255" cy="866140"/>
          </a:xfrm>
          <a:prstGeom prst="rect">
            <a:avLst/>
          </a:prstGeom>
        </p:spPr>
      </p:pic>
      <p:sp>
        <p:nvSpPr>
          <p:cNvPr id="3" name="标题 2"/>
          <p:cNvSpPr>
            <a:spLocks noGrp="1"/>
          </p:cNvSpPr>
          <p:nvPr>
            <p:ph type="title"/>
          </p:nvPr>
        </p:nvSpPr>
        <p:spPr>
          <a:xfrm>
            <a:off x="508000" y="170180"/>
            <a:ext cx="7362825" cy="632460"/>
          </a:xfrm>
        </p:spPr>
        <p:txBody>
          <a:bodyPr/>
          <a:lstStyle>
            <a:lvl1pPr marL="0" marR="0" lvl="0" algn="l" defTabSz="914400" rtl="0" eaLnBrk="1" fontAlgn="auto" latinLnBrk="0" hangingPunct="1">
              <a:lnSpc>
                <a:spcPct val="100000"/>
              </a:lnSpc>
              <a:spcBef>
                <a:spcPct val="0"/>
              </a:spcBef>
              <a:buClrTx/>
              <a:buSzTx/>
              <a:buFontTx/>
              <a:buNone/>
              <a:defRPr kumimoji="0" lang="zh-CN" altLang="en-US" sz="2800" b="1" i="0" u="none" strike="noStrike" kern="1200" cap="none" spc="0" normalizeH="0" baseline="0" noProof="1">
                <a:solidFill>
                  <a:schemeClr val="tx1">
                    <a:lumMod val="75000"/>
                    <a:lumOff val="25000"/>
                  </a:schemeClr>
                </a:solidFill>
                <a:latin typeface="微软雅黑" panose="020B0503020204020204" charset="-122"/>
                <a:ea typeface="微软雅黑" panose="020B0503020204020204" charset="-122"/>
                <a:cs typeface="+mn-cs"/>
              </a:defRPr>
            </a:lvl1pPr>
          </a:lstStyle>
          <a:p>
            <a:r>
              <a:rPr lang="zh-CN" altLang="en-US"/>
              <a:t>单击此处编辑母版标题样式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pic>
        <p:nvPicPr>
          <p:cNvPr id="7" name="图片 6" descr="辅助图形3"/>
          <p:cNvPicPr>
            <a:picLocks noChangeAspect="1"/>
          </p:cNvPicPr>
          <p:nvPr userDrawn="1"/>
        </p:nvPicPr>
        <p:blipFill>
          <a:blip r:embed="rId2"/>
          <a:stretch>
            <a:fillRect/>
          </a:stretch>
        </p:blipFill>
        <p:spPr>
          <a:xfrm>
            <a:off x="0" y="4634230"/>
            <a:ext cx="12192000" cy="2222500"/>
          </a:xfrm>
          <a:prstGeom prst="rect">
            <a:avLst/>
          </a:prstGeom>
        </p:spPr>
      </p:pic>
      <p:sp>
        <p:nvSpPr>
          <p:cNvPr id="3" name="标题 2"/>
          <p:cNvSpPr>
            <a:spLocks noGrp="1"/>
          </p:cNvSpPr>
          <p:nvPr>
            <p:ph type="title"/>
          </p:nvPr>
        </p:nvSpPr>
        <p:spPr>
          <a:xfrm>
            <a:off x="507365" y="4914900"/>
            <a:ext cx="7362825" cy="559435"/>
          </a:xfrm>
        </p:spPr>
        <p:txBody>
          <a:bodyPr/>
          <a:lstStyle>
            <a:lvl1pPr marL="0" marR="0" lvl="0" algn="l" defTabSz="914400" rtl="0" eaLnBrk="1" fontAlgn="auto" latinLnBrk="0" hangingPunct="1">
              <a:lnSpc>
                <a:spcPct val="100000"/>
              </a:lnSpc>
              <a:spcBef>
                <a:spcPct val="0"/>
              </a:spcBef>
              <a:buClrTx/>
              <a:buSzTx/>
              <a:buFontTx/>
              <a:buNone/>
              <a:defRPr kumimoji="0" lang="zh-CN" altLang="en-US" sz="3200" b="1" i="0" u="none" strike="noStrike" kern="1200" cap="none" spc="0" normalizeH="0" baseline="0" noProof="1">
                <a:solidFill>
                  <a:schemeClr val="tx1"/>
                </a:solidFill>
                <a:latin typeface="微软雅黑" panose="020B0503020204020204" charset="-122"/>
                <a:ea typeface="微软雅黑" panose="020B0503020204020204" charset="-122"/>
                <a:cs typeface="+mn-cs"/>
              </a:defRPr>
            </a:lvl1pPr>
          </a:lstStyle>
          <a:p>
            <a:r>
              <a:rPr lang="zh-CN" altLang="en-US"/>
              <a:t>单击此处编辑母版标题样式</a:t>
            </a:r>
            <a:endParaRPr lang="en-US" altLang="zh-CN"/>
          </a:p>
        </p:txBody>
      </p:sp>
      <p:sp>
        <p:nvSpPr>
          <p:cNvPr id="11" name="文本占位符 10"/>
          <p:cNvSpPr>
            <a:spLocks noGrp="1"/>
          </p:cNvSpPr>
          <p:nvPr>
            <p:ph type="body" idx="1" hasCustomPrompt="1"/>
          </p:nvPr>
        </p:nvSpPr>
        <p:spPr>
          <a:xfrm>
            <a:off x="508000" y="5571490"/>
            <a:ext cx="7361555" cy="1001395"/>
          </a:xfrm>
          <a:prstGeom prst="rect">
            <a:avLst/>
          </a:prstGeom>
        </p:spPr>
        <p:txBody>
          <a:bodyPr vert="horz" lIns="91440" tIns="45720" rIns="91440" bIns="45720" rtlCol="0">
            <a:normAutofit/>
          </a:bodyPr>
          <a:lstStyle>
            <a:lvl1pPr marL="0" marR="0" lvl="0" algn="l" defTabSz="914400" rtl="0" eaLnBrk="1" fontAlgn="auto" latinLnBrk="0" hangingPunct="1">
              <a:lnSpc>
                <a:spcPct val="100000"/>
              </a:lnSpc>
              <a:spcBef>
                <a:spcPts val="1000"/>
              </a:spcBef>
              <a:buClrTx/>
              <a:buSzTx/>
              <a:buFontTx/>
              <a:buNone/>
              <a:defRPr kumimoji="0" lang="zh-CN" altLang="en-US" sz="1600" b="0" i="0" u="none" strike="noStrike" kern="1200" cap="none" spc="0" normalizeH="0" baseline="0" noProof="1">
                <a:solidFill>
                  <a:srgbClr val="376EDC"/>
                </a:solidFill>
                <a:latin typeface="微软雅黑" panose="020B0503020204020204" charset="-122"/>
                <a:ea typeface="微软雅黑" panose="020B0503020204020204" charset="-122"/>
                <a:cs typeface="+mn-cs"/>
                <a:sym typeface="+mn-ea"/>
              </a:defRPr>
            </a:lvl1pPr>
          </a:lstStyle>
          <a:p>
            <a:pPr algn="l">
              <a:buClrTx/>
              <a:buSzTx/>
              <a:buFontTx/>
            </a:pPr>
            <a:r>
              <a:rPr sz="1800">
                <a:solidFill>
                  <a:schemeClr val="tx1">
                    <a:lumMod val="50000"/>
                    <a:lumOff val="50000"/>
                  </a:schemeClr>
                </a:solidFill>
                <a:sym typeface="+mn-ea"/>
              </a:rPr>
              <a:t>说明文字说明文字说明文字说明文字说明文字说明文字说明文字说明文字说明文字说明文字说明文字说明文字说明文字说明文字说明文字说明文字说明文字说明文字说明文字说明文字</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6" name="矩形 25"/>
          <p:cNvSpPr/>
          <p:nvPr userDrawn="1"/>
        </p:nvSpPr>
        <p:spPr>
          <a:xfrm>
            <a:off x="4743450" y="768350"/>
            <a:ext cx="7454900" cy="2959100"/>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7" name="标题 26"/>
          <p:cNvSpPr>
            <a:spLocks noGrp="1"/>
          </p:cNvSpPr>
          <p:nvPr>
            <p:ph type="title" hasCustomPrompt="1"/>
            <p:custDataLst>
              <p:tags r:id="rId2"/>
            </p:custDataLst>
          </p:nvPr>
        </p:nvSpPr>
        <p:spPr>
          <a:xfrm>
            <a:off x="608330" y="717550"/>
            <a:ext cx="3781425" cy="1631950"/>
          </a:xfrm>
        </p:spPr>
        <p:txBody>
          <a:bodyPr vert="horz" lIns="90000" tIns="46800" rIns="90000" bIns="46800" rtlCol="0" anchor="t" anchorCtr="0">
            <a:normAutofit/>
          </a:bodyPr>
          <a:lstStyle>
            <a:lvl1pPr>
              <a:lnSpc>
                <a:spcPct val="100000"/>
              </a:lnSpc>
              <a:defRPr sz="3200" b="1">
                <a:latin typeface="微软雅黑" panose="020B0503020204020204" charset="-122"/>
                <a:ea typeface="微软雅黑" panose="020B0503020204020204" charset="-122"/>
              </a:defRPr>
            </a:lvl1pPr>
          </a:lstStyle>
          <a:p>
            <a:pPr lvl="0"/>
            <a:r>
              <a:rPr dirty="0">
                <a:sym typeface="+mn-ea"/>
              </a:rPr>
              <a:t>单击此处</a:t>
            </a:r>
            <a:r>
              <a:rPr lang="zh-CN" dirty="0">
                <a:sym typeface="+mn-ea"/>
              </a:rPr>
              <a:t>添加标题</a:t>
            </a:r>
            <a:endParaRPr lang="zh-CN" dirty="0">
              <a:sym typeface="+mn-ea"/>
            </a:endParaRPr>
          </a:p>
        </p:txBody>
      </p:sp>
      <p:sp>
        <p:nvSpPr>
          <p:cNvPr id="28" name="文本占位符 27"/>
          <p:cNvSpPr>
            <a:spLocks noGrp="1"/>
          </p:cNvSpPr>
          <p:nvPr>
            <p:ph type="body" idx="1" hasCustomPrompt="1"/>
            <p:custDataLst>
              <p:tags r:id="rId3"/>
            </p:custDataLst>
          </p:nvPr>
        </p:nvSpPr>
        <p:spPr>
          <a:xfrm>
            <a:off x="608330" y="1885950"/>
            <a:ext cx="3781425" cy="1155700"/>
          </a:xfrm>
        </p:spPr>
        <p:txBody>
          <a:bodyPr lIns="101600" tIns="38100" rIns="76200" bIns="38100" anchor="t" anchorCtr="0">
            <a:normAutofit/>
          </a:bodyPr>
          <a:lstStyle>
            <a:lvl1pPr marL="0" indent="0">
              <a:lnSpc>
                <a:spcPct val="100000"/>
              </a:lnSpc>
              <a:buNone/>
              <a:defRPr sz="1600" b="0" spc="200">
                <a:solidFill>
                  <a:schemeClr val="tx1">
                    <a:lumMod val="50000"/>
                    <a:lumOff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31" name="内容占位符 30"/>
          <p:cNvSpPr>
            <a:spLocks noGrp="1"/>
          </p:cNvSpPr>
          <p:nvPr>
            <p:ph sz="half" idx="13" hasCustomPrompt="1"/>
            <p:custDataLst>
              <p:tags r:id="rId4"/>
            </p:custDataLst>
          </p:nvPr>
        </p:nvSpPr>
        <p:spPr>
          <a:xfrm>
            <a:off x="608330" y="4343400"/>
            <a:ext cx="3286125" cy="328930"/>
          </a:xfrm>
        </p:spPr>
        <p:txBody>
          <a:bodyPr vert="horz" lIns="90000" tIns="46800" rIns="90000" bIns="46800" rtlCol="0">
            <a:normAutofit/>
          </a:bodyPr>
          <a:lstStyle>
            <a:lvl1pPr marL="0" indent="0">
              <a:buNone/>
              <a:defRPr sz="1800" b="1">
                <a:latin typeface="微软雅黑" panose="020B0503020204020204" charset="-122"/>
                <a:ea typeface="微软雅黑" panose="020B0503020204020204" charset="-122"/>
              </a:defRPr>
            </a:lvl1pPr>
          </a:lstStyle>
          <a:p>
            <a:pPr lvl="0"/>
            <a:r>
              <a:rPr dirty="0">
                <a:sym typeface="+mn-ea"/>
              </a:rPr>
              <a:t>单击此处</a:t>
            </a:r>
            <a:r>
              <a:rPr lang="zh-CN" altLang="en-US" dirty="0">
                <a:sym typeface="+mn-ea"/>
              </a:rPr>
              <a:t>添加标题</a:t>
            </a:r>
            <a:endParaRPr lang="zh-CN" altLang="en-US" dirty="0">
              <a:sym typeface="+mn-ea"/>
            </a:endParaRPr>
          </a:p>
        </p:txBody>
      </p:sp>
      <p:sp>
        <p:nvSpPr>
          <p:cNvPr id="33" name="文本占位符 32"/>
          <p:cNvSpPr>
            <a:spLocks noGrp="1"/>
          </p:cNvSpPr>
          <p:nvPr>
            <p:ph type="body" idx="14" hasCustomPrompt="1"/>
            <p:custDataLst>
              <p:tags r:id="rId5"/>
            </p:custDataLst>
          </p:nvPr>
        </p:nvSpPr>
        <p:spPr>
          <a:xfrm>
            <a:off x="608330" y="4805045"/>
            <a:ext cx="3286125" cy="876300"/>
          </a:xfrm>
        </p:spPr>
        <p:txBody>
          <a:bodyPr lIns="101600" tIns="38100" rIns="76200" bIns="38100" anchor="t" anchorCtr="0">
            <a:normAutofit/>
          </a:bodyPr>
          <a:lstStyle>
            <a:lvl1pPr marL="0" indent="0">
              <a:lnSpc>
                <a:spcPct val="100000"/>
              </a:lnSpc>
              <a:buNone/>
              <a:defRPr sz="1400" b="0" spc="200">
                <a:solidFill>
                  <a:schemeClr val="tx1">
                    <a:lumMod val="50000"/>
                    <a:lumOff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pic>
        <p:nvPicPr>
          <p:cNvPr id="2" name="图片 1" descr="辅助图形11"/>
          <p:cNvPicPr>
            <a:picLocks noChangeAspect="1"/>
          </p:cNvPicPr>
          <p:nvPr userDrawn="1"/>
        </p:nvPicPr>
        <p:blipFill>
          <a:blip r:embed="rId6"/>
          <a:stretch>
            <a:fillRect/>
          </a:stretch>
        </p:blipFill>
        <p:spPr>
          <a:xfrm>
            <a:off x="0" y="6165850"/>
            <a:ext cx="12192000" cy="692150"/>
          </a:xfrm>
          <a:prstGeom prst="rect">
            <a:avLst/>
          </a:prstGeom>
        </p:spPr>
      </p:pic>
      <p:pic>
        <p:nvPicPr>
          <p:cNvPr id="3" name="图片 2" descr="教育集团LOGO-横版"/>
          <p:cNvPicPr>
            <a:picLocks noChangeAspect="1"/>
          </p:cNvPicPr>
          <p:nvPr userDrawn="1"/>
        </p:nvPicPr>
        <p:blipFill>
          <a:blip r:embed="rId7"/>
          <a:stretch>
            <a:fillRect/>
          </a:stretch>
        </p:blipFill>
        <p:spPr>
          <a:xfrm>
            <a:off x="9693275" y="6166485"/>
            <a:ext cx="2498725" cy="706755"/>
          </a:xfrm>
          <a:prstGeom prst="rect">
            <a:avLst/>
          </a:prstGeom>
        </p:spPr>
      </p:pic>
      <p:sp>
        <p:nvSpPr>
          <p:cNvPr id="6" name="内容占位符 5"/>
          <p:cNvSpPr>
            <a:spLocks noGrp="1"/>
          </p:cNvSpPr>
          <p:nvPr>
            <p:ph sz="half" idx="15" hasCustomPrompt="1"/>
            <p:custDataLst>
              <p:tags r:id="rId8"/>
            </p:custDataLst>
          </p:nvPr>
        </p:nvSpPr>
        <p:spPr>
          <a:xfrm>
            <a:off x="4367530" y="4343400"/>
            <a:ext cx="3286125" cy="328930"/>
          </a:xfrm>
        </p:spPr>
        <p:txBody>
          <a:bodyPr vert="horz" lIns="90000" tIns="46800" rIns="90000" bIns="46800" rtlCol="0">
            <a:normAutofit/>
          </a:bodyPr>
          <a:lstStyle>
            <a:lvl1pPr marL="0" indent="0">
              <a:buNone/>
              <a:defRPr sz="1800" b="1">
                <a:latin typeface="微软雅黑" panose="020B0503020204020204" charset="-122"/>
                <a:ea typeface="微软雅黑" panose="020B0503020204020204" charset="-122"/>
              </a:defRPr>
            </a:lvl1pPr>
          </a:lstStyle>
          <a:p>
            <a:pPr lvl="0"/>
            <a:r>
              <a:rPr dirty="0">
                <a:sym typeface="+mn-ea"/>
              </a:rPr>
              <a:t>单击此处</a:t>
            </a:r>
            <a:r>
              <a:rPr lang="zh-CN" altLang="en-US" dirty="0">
                <a:sym typeface="+mn-ea"/>
              </a:rPr>
              <a:t>添加标题</a:t>
            </a:r>
            <a:endParaRPr lang="zh-CN" altLang="en-US" dirty="0">
              <a:sym typeface="+mn-ea"/>
            </a:endParaRPr>
          </a:p>
        </p:txBody>
      </p:sp>
      <p:sp>
        <p:nvSpPr>
          <p:cNvPr id="7" name="文本占位符 6"/>
          <p:cNvSpPr>
            <a:spLocks noGrp="1"/>
          </p:cNvSpPr>
          <p:nvPr>
            <p:ph type="body" idx="16" hasCustomPrompt="1"/>
            <p:custDataLst>
              <p:tags r:id="rId9"/>
            </p:custDataLst>
          </p:nvPr>
        </p:nvSpPr>
        <p:spPr>
          <a:xfrm>
            <a:off x="4367530" y="4805045"/>
            <a:ext cx="3286125" cy="876300"/>
          </a:xfrm>
        </p:spPr>
        <p:txBody>
          <a:bodyPr lIns="101600" tIns="38100" rIns="76200" bIns="38100" anchor="t" anchorCtr="0">
            <a:normAutofit/>
          </a:bodyPr>
          <a:lstStyle>
            <a:lvl1pPr marL="0" indent="0">
              <a:lnSpc>
                <a:spcPct val="100000"/>
              </a:lnSpc>
              <a:buNone/>
              <a:defRPr sz="1400" b="0" spc="200">
                <a:solidFill>
                  <a:schemeClr val="tx1">
                    <a:lumMod val="50000"/>
                    <a:lumOff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8" name="内容占位符 7"/>
          <p:cNvSpPr>
            <a:spLocks noGrp="1"/>
          </p:cNvSpPr>
          <p:nvPr>
            <p:ph sz="half" idx="17" hasCustomPrompt="1"/>
            <p:custDataLst>
              <p:tags r:id="rId10"/>
            </p:custDataLst>
          </p:nvPr>
        </p:nvSpPr>
        <p:spPr>
          <a:xfrm>
            <a:off x="8152130" y="4343400"/>
            <a:ext cx="3286125" cy="328930"/>
          </a:xfrm>
        </p:spPr>
        <p:txBody>
          <a:bodyPr vert="horz" lIns="90000" tIns="46800" rIns="90000" bIns="46800" rtlCol="0">
            <a:normAutofit/>
          </a:bodyPr>
          <a:lstStyle>
            <a:lvl1pPr marL="0" indent="0">
              <a:buNone/>
              <a:defRPr sz="1800" b="1">
                <a:latin typeface="微软雅黑" panose="020B0503020204020204" charset="-122"/>
                <a:ea typeface="微软雅黑" panose="020B0503020204020204" charset="-122"/>
              </a:defRPr>
            </a:lvl1pPr>
          </a:lstStyle>
          <a:p>
            <a:pPr lvl="0"/>
            <a:r>
              <a:rPr dirty="0">
                <a:sym typeface="+mn-ea"/>
              </a:rPr>
              <a:t>单击此处</a:t>
            </a:r>
            <a:r>
              <a:rPr lang="zh-CN" altLang="en-US" dirty="0">
                <a:sym typeface="+mn-ea"/>
              </a:rPr>
              <a:t>添加标题</a:t>
            </a:r>
            <a:endParaRPr lang="zh-CN" altLang="en-US" dirty="0">
              <a:sym typeface="+mn-ea"/>
            </a:endParaRPr>
          </a:p>
        </p:txBody>
      </p:sp>
      <p:sp>
        <p:nvSpPr>
          <p:cNvPr id="9" name="文本占位符 8"/>
          <p:cNvSpPr>
            <a:spLocks noGrp="1"/>
          </p:cNvSpPr>
          <p:nvPr>
            <p:ph type="body" idx="18" hasCustomPrompt="1"/>
            <p:custDataLst>
              <p:tags r:id="rId11"/>
            </p:custDataLst>
          </p:nvPr>
        </p:nvSpPr>
        <p:spPr>
          <a:xfrm>
            <a:off x="8152130" y="4805045"/>
            <a:ext cx="3286125" cy="876300"/>
          </a:xfrm>
        </p:spPr>
        <p:txBody>
          <a:bodyPr lIns="101600" tIns="38100" rIns="76200" bIns="38100" anchor="t" anchorCtr="0">
            <a:normAutofit/>
          </a:bodyPr>
          <a:lstStyle>
            <a:lvl1pPr marL="0" indent="0">
              <a:lnSpc>
                <a:spcPct val="100000"/>
              </a:lnSpc>
              <a:buNone/>
              <a:defRPr sz="1400" b="0" spc="200">
                <a:solidFill>
                  <a:schemeClr val="tx1">
                    <a:lumMod val="50000"/>
                    <a:lumOff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cxnSp>
        <p:nvCxnSpPr>
          <p:cNvPr id="10" name="直接连接符 9"/>
          <p:cNvCxnSpPr/>
          <p:nvPr userDrawn="1"/>
        </p:nvCxnSpPr>
        <p:spPr>
          <a:xfrm>
            <a:off x="4149090" y="4345940"/>
            <a:ext cx="0" cy="13589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userDrawn="1"/>
        </p:nvCxnSpPr>
        <p:spPr>
          <a:xfrm>
            <a:off x="7933690" y="4345940"/>
            <a:ext cx="0" cy="13589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6" name="矩形 25"/>
          <p:cNvSpPr/>
          <p:nvPr userDrawn="1"/>
        </p:nvSpPr>
        <p:spPr>
          <a:xfrm>
            <a:off x="635" y="0"/>
            <a:ext cx="12197715" cy="3994150"/>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28" name="文本占位符 27"/>
          <p:cNvSpPr>
            <a:spLocks noGrp="1"/>
          </p:cNvSpPr>
          <p:nvPr>
            <p:ph type="body" idx="1" hasCustomPrompt="1"/>
            <p:custDataLst>
              <p:tags r:id="rId2"/>
            </p:custDataLst>
          </p:nvPr>
        </p:nvSpPr>
        <p:spPr>
          <a:xfrm>
            <a:off x="586105" y="4330700"/>
            <a:ext cx="3121025" cy="1350645"/>
          </a:xfrm>
        </p:spPr>
        <p:txBody>
          <a:bodyPr lIns="101600" tIns="38100" rIns="76200" bIns="38100" anchor="t" anchorCtr="0">
            <a:normAutofit/>
          </a:bodyPr>
          <a:lstStyle>
            <a:lvl1pPr marL="0" indent="0">
              <a:lnSpc>
                <a:spcPct val="100000"/>
              </a:lnSpc>
              <a:buNone/>
              <a:defRPr sz="1600" b="0" i="1" spc="20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pic>
        <p:nvPicPr>
          <p:cNvPr id="2" name="图片 1" descr="辅助图形11"/>
          <p:cNvPicPr>
            <a:picLocks noChangeAspect="1"/>
          </p:cNvPicPr>
          <p:nvPr userDrawn="1"/>
        </p:nvPicPr>
        <p:blipFill>
          <a:blip r:embed="rId3"/>
          <a:stretch>
            <a:fillRect/>
          </a:stretch>
        </p:blipFill>
        <p:spPr>
          <a:xfrm>
            <a:off x="0" y="6165850"/>
            <a:ext cx="12192000" cy="692150"/>
          </a:xfrm>
          <a:prstGeom prst="rect">
            <a:avLst/>
          </a:prstGeom>
        </p:spPr>
      </p:pic>
      <p:pic>
        <p:nvPicPr>
          <p:cNvPr id="3" name="图片 2" descr="教育集团LOGO-横版"/>
          <p:cNvPicPr>
            <a:picLocks noChangeAspect="1"/>
          </p:cNvPicPr>
          <p:nvPr userDrawn="1"/>
        </p:nvPicPr>
        <p:blipFill>
          <a:blip r:embed="rId4"/>
          <a:stretch>
            <a:fillRect/>
          </a:stretch>
        </p:blipFill>
        <p:spPr>
          <a:xfrm>
            <a:off x="9693275" y="6166485"/>
            <a:ext cx="2498725" cy="706755"/>
          </a:xfrm>
          <a:prstGeom prst="rect">
            <a:avLst/>
          </a:prstGeom>
        </p:spPr>
      </p:pic>
      <p:sp>
        <p:nvSpPr>
          <p:cNvPr id="6" name="内容占位符 5"/>
          <p:cNvSpPr>
            <a:spLocks noGrp="1"/>
          </p:cNvSpPr>
          <p:nvPr>
            <p:ph sz="half" idx="15" hasCustomPrompt="1"/>
            <p:custDataLst>
              <p:tags r:id="rId5"/>
            </p:custDataLst>
          </p:nvPr>
        </p:nvSpPr>
        <p:spPr>
          <a:xfrm>
            <a:off x="4367530" y="4343400"/>
            <a:ext cx="3286125" cy="328930"/>
          </a:xfrm>
        </p:spPr>
        <p:txBody>
          <a:bodyPr vert="horz" lIns="90000" tIns="46800" rIns="90000" bIns="46800" rtlCol="0">
            <a:normAutofit/>
          </a:bodyPr>
          <a:lstStyle>
            <a:lvl1pPr marL="0" indent="0">
              <a:buNone/>
              <a:defRPr sz="1800" b="1">
                <a:latin typeface="微软雅黑" panose="020B0503020204020204" charset="-122"/>
                <a:ea typeface="微软雅黑" panose="020B0503020204020204" charset="-122"/>
              </a:defRPr>
            </a:lvl1pPr>
          </a:lstStyle>
          <a:p>
            <a:pPr lvl="0"/>
            <a:r>
              <a:rPr dirty="0">
                <a:sym typeface="+mn-ea"/>
              </a:rPr>
              <a:t>单击此处</a:t>
            </a:r>
            <a:r>
              <a:rPr lang="zh-CN" altLang="en-US" dirty="0">
                <a:sym typeface="+mn-ea"/>
              </a:rPr>
              <a:t>添加标题</a:t>
            </a:r>
            <a:endParaRPr lang="zh-CN" altLang="en-US" dirty="0">
              <a:sym typeface="+mn-ea"/>
            </a:endParaRPr>
          </a:p>
        </p:txBody>
      </p:sp>
      <p:sp>
        <p:nvSpPr>
          <p:cNvPr id="7" name="文本占位符 6"/>
          <p:cNvSpPr>
            <a:spLocks noGrp="1"/>
          </p:cNvSpPr>
          <p:nvPr>
            <p:ph type="body" idx="16" hasCustomPrompt="1"/>
            <p:custDataLst>
              <p:tags r:id="rId6"/>
            </p:custDataLst>
          </p:nvPr>
        </p:nvSpPr>
        <p:spPr>
          <a:xfrm>
            <a:off x="4367530" y="4805045"/>
            <a:ext cx="3286125" cy="876300"/>
          </a:xfrm>
        </p:spPr>
        <p:txBody>
          <a:bodyPr lIns="101600" tIns="38100" rIns="76200" bIns="38100" anchor="t" anchorCtr="0">
            <a:normAutofit/>
          </a:bodyPr>
          <a:lstStyle>
            <a:lvl1pPr marL="0" indent="0">
              <a:lnSpc>
                <a:spcPct val="100000"/>
              </a:lnSpc>
              <a:buNone/>
              <a:defRPr sz="1400" b="0" spc="200">
                <a:solidFill>
                  <a:schemeClr val="tx1">
                    <a:lumMod val="50000"/>
                    <a:lumOff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8" name="内容占位符 7"/>
          <p:cNvSpPr>
            <a:spLocks noGrp="1"/>
          </p:cNvSpPr>
          <p:nvPr>
            <p:ph sz="half" idx="17" hasCustomPrompt="1"/>
            <p:custDataLst>
              <p:tags r:id="rId7"/>
            </p:custDataLst>
          </p:nvPr>
        </p:nvSpPr>
        <p:spPr>
          <a:xfrm>
            <a:off x="8152130" y="4343400"/>
            <a:ext cx="3286125" cy="328930"/>
          </a:xfrm>
        </p:spPr>
        <p:txBody>
          <a:bodyPr vert="horz" lIns="90000" tIns="46800" rIns="90000" bIns="46800" rtlCol="0">
            <a:normAutofit/>
          </a:bodyPr>
          <a:lstStyle>
            <a:lvl1pPr marL="0" indent="0">
              <a:buNone/>
              <a:defRPr sz="1800" b="1">
                <a:latin typeface="微软雅黑" panose="020B0503020204020204" charset="-122"/>
                <a:ea typeface="微软雅黑" panose="020B0503020204020204" charset="-122"/>
              </a:defRPr>
            </a:lvl1pPr>
          </a:lstStyle>
          <a:p>
            <a:pPr lvl="0"/>
            <a:r>
              <a:rPr dirty="0">
                <a:sym typeface="+mn-ea"/>
              </a:rPr>
              <a:t>单击此处</a:t>
            </a:r>
            <a:r>
              <a:rPr lang="zh-CN" altLang="en-US" dirty="0">
                <a:sym typeface="+mn-ea"/>
              </a:rPr>
              <a:t>添加标题</a:t>
            </a:r>
            <a:endParaRPr lang="zh-CN" altLang="en-US" dirty="0">
              <a:sym typeface="+mn-ea"/>
            </a:endParaRPr>
          </a:p>
        </p:txBody>
      </p:sp>
      <p:sp>
        <p:nvSpPr>
          <p:cNvPr id="9" name="文本占位符 8"/>
          <p:cNvSpPr>
            <a:spLocks noGrp="1"/>
          </p:cNvSpPr>
          <p:nvPr>
            <p:ph type="body" idx="18" hasCustomPrompt="1"/>
            <p:custDataLst>
              <p:tags r:id="rId8"/>
            </p:custDataLst>
          </p:nvPr>
        </p:nvSpPr>
        <p:spPr>
          <a:xfrm>
            <a:off x="8152130" y="4805045"/>
            <a:ext cx="3286125" cy="876300"/>
          </a:xfrm>
        </p:spPr>
        <p:txBody>
          <a:bodyPr lIns="101600" tIns="38100" rIns="76200" bIns="38100" anchor="t" anchorCtr="0">
            <a:normAutofit/>
          </a:bodyPr>
          <a:lstStyle>
            <a:lvl1pPr marL="0" indent="0">
              <a:lnSpc>
                <a:spcPct val="100000"/>
              </a:lnSpc>
              <a:buNone/>
              <a:defRPr sz="1400" b="0" spc="200">
                <a:solidFill>
                  <a:schemeClr val="tx1">
                    <a:lumMod val="50000"/>
                    <a:lumOff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cxnSp>
        <p:nvCxnSpPr>
          <p:cNvPr id="11" name="直接连接符 10"/>
          <p:cNvCxnSpPr/>
          <p:nvPr userDrawn="1"/>
        </p:nvCxnSpPr>
        <p:spPr>
          <a:xfrm>
            <a:off x="7933690" y="4345940"/>
            <a:ext cx="0" cy="13589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12" name="矩形 11"/>
          <p:cNvSpPr/>
          <p:nvPr userDrawn="1"/>
        </p:nvSpPr>
        <p:spPr>
          <a:xfrm>
            <a:off x="-635" y="0"/>
            <a:ext cx="12192635" cy="4664075"/>
          </a:xfrm>
          <a:prstGeom prst="rect">
            <a:avLst/>
          </a:prstGeom>
          <a:solidFill>
            <a:srgbClr val="376E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descr="辅助图形2"/>
          <p:cNvPicPr>
            <a:picLocks noChangeAspect="1"/>
          </p:cNvPicPr>
          <p:nvPr userDrawn="1"/>
        </p:nvPicPr>
        <p:blipFill>
          <a:blip r:embed="rId2"/>
          <a:stretch>
            <a:fillRect/>
          </a:stretch>
        </p:blipFill>
        <p:spPr>
          <a:xfrm>
            <a:off x="-635" y="4664075"/>
            <a:ext cx="12192000" cy="2222500"/>
          </a:xfrm>
          <a:prstGeom prst="rect">
            <a:avLst/>
          </a:prstGeom>
        </p:spPr>
      </p:pic>
      <p:sp>
        <p:nvSpPr>
          <p:cNvPr id="3" name="文本框 2"/>
          <p:cNvSpPr txBox="1"/>
          <p:nvPr userDrawn="1"/>
        </p:nvSpPr>
        <p:spPr>
          <a:xfrm>
            <a:off x="-635" y="1653540"/>
            <a:ext cx="12192000" cy="1445260"/>
          </a:xfrm>
          <a:prstGeom prst="rect">
            <a:avLst/>
          </a:prstGeom>
          <a:noFill/>
        </p:spPr>
        <p:txBody>
          <a:bodyPr wrap="square" rtlCol="0" anchor="t">
            <a:spAutoFit/>
          </a:bodyPr>
          <a:lstStyle/>
          <a:p>
            <a:pPr algn="ctr"/>
            <a:r>
              <a:rPr lang="en-US" altLang="zh-CN" sz="8800" b="1">
                <a:solidFill>
                  <a:schemeClr val="bg1"/>
                </a:solidFill>
                <a:latin typeface="微软雅黑" panose="020B0503020204020204" charset="-122"/>
                <a:ea typeface="微软雅黑" panose="020B0503020204020204" charset="-122"/>
              </a:rPr>
              <a:t>THANKS</a:t>
            </a:r>
            <a:endParaRPr lang="en-US" altLang="zh-CN" sz="8800" b="1">
              <a:solidFill>
                <a:schemeClr val="bg1"/>
              </a:solidFill>
              <a:latin typeface="微软雅黑" panose="020B0503020204020204" charset="-122"/>
              <a:ea typeface="微软雅黑" panose="020B0503020204020204" charset="-122"/>
            </a:endParaRPr>
          </a:p>
        </p:txBody>
      </p:sp>
      <p:pic>
        <p:nvPicPr>
          <p:cNvPr id="7" name="图片 6" descr="教育集团LOGO-横版"/>
          <p:cNvPicPr>
            <a:picLocks noChangeAspect="1"/>
          </p:cNvPicPr>
          <p:nvPr userDrawn="1"/>
        </p:nvPicPr>
        <p:blipFill>
          <a:blip r:embed="rId3"/>
          <a:stretch>
            <a:fillRect/>
          </a:stretch>
        </p:blipFill>
        <p:spPr>
          <a:xfrm>
            <a:off x="3175" y="5042535"/>
            <a:ext cx="5184140" cy="1466215"/>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normAutofit/>
          </a:bodyPr>
          <a:lstStyle>
            <a:lvl1pPr>
              <a:defRPr sz="4000" b="1">
                <a:latin typeface="微软雅黑" panose="020B0503020204020204" charset="-122"/>
                <a:ea typeface="微软雅黑" panose="020B0503020204020204" charset="-122"/>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838200" y="1825625"/>
            <a:ext cx="10515600" cy="4351338"/>
          </a:xfrm>
        </p:spPr>
        <p:txBody>
          <a:bodyPr/>
          <a:lstStyle>
            <a:lvl1pPr>
              <a:defRPr>
                <a:latin typeface="微软雅黑" panose="020B0503020204020204" charset="-122"/>
                <a:ea typeface="微软雅黑" panose="020B0503020204020204" charset="-122"/>
              </a:defRPr>
            </a:lvl1pPr>
            <a:lvl2pPr>
              <a:defRPr>
                <a:latin typeface="微软雅黑" panose="020B0503020204020204" charset="-122"/>
                <a:ea typeface="微软雅黑" panose="020B0503020204020204" charset="-122"/>
              </a:defRPr>
            </a:lvl2pPr>
            <a:lvl3pPr>
              <a:defRPr>
                <a:latin typeface="微软雅黑" panose="020B0503020204020204" charset="-122"/>
                <a:ea typeface="微软雅黑" panose="020B0503020204020204" charset="-122"/>
              </a:defRPr>
            </a:lvl3pPr>
            <a:lvl4pPr>
              <a:defRPr>
                <a:latin typeface="微软雅黑" panose="020B0503020204020204" charset="-122"/>
                <a:ea typeface="微软雅黑" panose="020B0503020204020204" charset="-122"/>
              </a:defRPr>
            </a:lvl4pPr>
            <a:lvl5pPr>
              <a:defRPr>
                <a:latin typeface="微软雅黑" panose="020B0503020204020204" charset="-122"/>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a:xfrm>
            <a:off x="838200" y="6356350"/>
            <a:ext cx="2743200" cy="365125"/>
          </a:xfrm>
        </p:spPr>
        <p:txBody>
          <a:bodyPr/>
          <a:lstStyle/>
          <a:p>
            <a:fld id="{CD1FB01A-61B5-429E-948F-AF7844F4ECEE}"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570B2CA2-EC76-460B-9027-427100CA5803}" type="slidenum">
              <a:rPr lang="zh-CN" altLang="en-US" smtClean="0"/>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normAutofit/>
          </a:bodyPr>
          <a:lstStyle>
            <a:lvl1pPr>
              <a:defRPr sz="4000" b="1">
                <a:latin typeface="微软雅黑" panose="020B0503020204020204" charset="-122"/>
                <a:ea typeface="微软雅黑" panose="020B0503020204020204" charset="-122"/>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838200" y="1825625"/>
            <a:ext cx="10515600" cy="4351338"/>
          </a:xfrm>
        </p:spPr>
        <p:txBody>
          <a:bodyPr/>
          <a:lstStyle>
            <a:lvl1pPr>
              <a:defRPr>
                <a:latin typeface="微软雅黑" panose="020B0503020204020204" charset="-122"/>
                <a:ea typeface="微软雅黑" panose="020B0503020204020204" charset="-122"/>
              </a:defRPr>
            </a:lvl1pPr>
            <a:lvl2pPr>
              <a:defRPr>
                <a:latin typeface="微软雅黑" panose="020B0503020204020204" charset="-122"/>
                <a:ea typeface="微软雅黑" panose="020B0503020204020204" charset="-122"/>
              </a:defRPr>
            </a:lvl2pPr>
            <a:lvl3pPr>
              <a:defRPr>
                <a:latin typeface="微软雅黑" panose="020B0503020204020204" charset="-122"/>
                <a:ea typeface="微软雅黑" panose="020B0503020204020204" charset="-122"/>
              </a:defRPr>
            </a:lvl3pPr>
            <a:lvl4pPr>
              <a:defRPr>
                <a:latin typeface="微软雅黑" panose="020B0503020204020204" charset="-122"/>
                <a:ea typeface="微软雅黑" panose="020B0503020204020204" charset="-122"/>
              </a:defRPr>
            </a:lvl4pPr>
            <a:lvl5pPr>
              <a:defRPr>
                <a:latin typeface="微软雅黑" panose="020B0503020204020204" charset="-122"/>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a:xfrm>
            <a:off x="838200" y="6356350"/>
            <a:ext cx="2743200" cy="365125"/>
          </a:xfrm>
        </p:spPr>
        <p:txBody>
          <a:bodyPr/>
          <a:lstStyle/>
          <a:p>
            <a:fld id="{CD1FB01A-61B5-429E-948F-AF7844F4ECEE}"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570B2CA2-EC76-460B-9027-427100CA5803}" type="slidenum">
              <a:rPr lang="zh-CN" altLang="en-US" smtClean="0"/>
            </a:fld>
            <a:endParaRPr lang="zh-CN" altLang="en-US"/>
          </a:p>
        </p:txBody>
      </p:sp>
      <p:sp>
        <p:nvSpPr>
          <p:cNvPr id="8" name="矩形 7"/>
          <p:cNvSpPr/>
          <p:nvPr userDrawn="1"/>
        </p:nvSpPr>
        <p:spPr>
          <a:xfrm>
            <a:off x="9049872" y="15501"/>
            <a:ext cx="2743199" cy="699247"/>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9" name="副标题 2"/>
          <p:cNvSpPr>
            <a:spLocks noGrp="1"/>
          </p:cNvSpPr>
          <p:nvPr>
            <p:ph type="subTitle" idx="13" hasCustomPrompt="1"/>
          </p:nvPr>
        </p:nvSpPr>
        <p:spPr>
          <a:xfrm>
            <a:off x="9064385" y="201532"/>
            <a:ext cx="2728686" cy="387123"/>
          </a:xfrm>
        </p:spPr>
        <p:txBody>
          <a:bodyPr>
            <a:noAutofit/>
          </a:bodyPr>
          <a:lstStyle>
            <a:lvl1pPr marL="0" indent="0" algn="ctr">
              <a:buNone/>
              <a:defRPr/>
            </a:lvl1pPr>
          </a:lstStyle>
          <a:p>
            <a:r>
              <a:rPr lang="zh-CN" altLang="en-US" sz="2000" dirty="0">
                <a:solidFill>
                  <a:schemeClr val="bg1">
                    <a:lumMod val="95000"/>
                  </a:schemeClr>
                </a:solidFill>
                <a:latin typeface="华文行楷" panose="02010800040101010101" pitchFamily="2" charset="-122"/>
                <a:ea typeface="华文行楷" panose="02010800040101010101" pitchFamily="2" charset="-122"/>
              </a:rPr>
              <a:t>荣耀</a:t>
            </a:r>
            <a:r>
              <a:rPr lang="en-US" altLang="zh-CN" sz="2000" dirty="0">
                <a:solidFill>
                  <a:schemeClr val="bg1">
                    <a:lumMod val="95000"/>
                  </a:schemeClr>
                </a:solidFill>
                <a:latin typeface="华文行楷" panose="02010800040101010101" pitchFamily="2" charset="-122"/>
                <a:ea typeface="华文行楷" panose="02010800040101010101" pitchFamily="2" charset="-122"/>
              </a:rPr>
              <a:t>·</a:t>
            </a:r>
            <a:r>
              <a:rPr lang="zh-CN" altLang="en-US" sz="2000" dirty="0">
                <a:solidFill>
                  <a:schemeClr val="bg1">
                    <a:lumMod val="95000"/>
                  </a:schemeClr>
                </a:solidFill>
                <a:latin typeface="华文行楷" panose="02010800040101010101" pitchFamily="2" charset="-122"/>
                <a:ea typeface="华文行楷" panose="02010800040101010101" pitchFamily="2" charset="-122"/>
              </a:rPr>
              <a:t>分享</a:t>
            </a:r>
            <a:r>
              <a:rPr lang="en-US" altLang="zh-CN" sz="2000" dirty="0">
                <a:solidFill>
                  <a:schemeClr val="bg1">
                    <a:lumMod val="95000"/>
                  </a:schemeClr>
                </a:solidFill>
                <a:latin typeface="华文行楷" panose="02010800040101010101" pitchFamily="2" charset="-122"/>
                <a:ea typeface="华文行楷" panose="02010800040101010101" pitchFamily="2" charset="-122"/>
              </a:rPr>
              <a:t>·</a:t>
            </a:r>
            <a:r>
              <a:rPr lang="zh-CN" altLang="en-US" sz="2000" dirty="0">
                <a:solidFill>
                  <a:schemeClr val="bg1">
                    <a:lumMod val="95000"/>
                  </a:schemeClr>
                </a:solidFill>
                <a:latin typeface="华文行楷" panose="02010800040101010101" pitchFamily="2" charset="-122"/>
                <a:ea typeface="华文行楷" panose="02010800040101010101" pitchFamily="2" charset="-122"/>
              </a:rPr>
              <a:t>共成长</a:t>
            </a:r>
            <a:endParaRPr lang="zh-CN" altLang="en-US" sz="2000" dirty="0">
              <a:solidFill>
                <a:schemeClr val="bg1">
                  <a:lumMod val="95000"/>
                </a:schemeClr>
              </a:solidFill>
              <a:latin typeface="华文行楷" panose="02010800040101010101" pitchFamily="2" charset="-122"/>
              <a:ea typeface="华文行楷" panose="02010800040101010101" pitchFamily="2" charset="-122"/>
            </a:endParaRPr>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6"/>
          <p:cNvGrpSpPr/>
          <p:nvPr userDrawn="1"/>
        </p:nvGrpSpPr>
        <p:grpSpPr>
          <a:xfrm>
            <a:off x="12315825" y="6108065"/>
            <a:ext cx="416560" cy="785495"/>
            <a:chOff x="19395" y="7259"/>
            <a:chExt cx="1076" cy="3597"/>
          </a:xfrm>
        </p:grpSpPr>
        <p:sp>
          <p:nvSpPr>
            <p:cNvPr id="11" name="矩形 10"/>
            <p:cNvSpPr/>
            <p:nvPr userDrawn="1"/>
          </p:nvSpPr>
          <p:spPr>
            <a:xfrm>
              <a:off x="19395" y="7259"/>
              <a:ext cx="1077" cy="1799"/>
            </a:xfrm>
            <a:prstGeom prst="rect">
              <a:avLst/>
            </a:prstGeom>
            <a:solidFill>
              <a:srgbClr val="3FC1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12" name="矩形 11"/>
            <p:cNvSpPr/>
            <p:nvPr userDrawn="1"/>
          </p:nvSpPr>
          <p:spPr>
            <a:xfrm>
              <a:off x="19395" y="9058"/>
              <a:ext cx="1077" cy="1799"/>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grpSp>
      <p:sp>
        <p:nvSpPr>
          <p:cNvPr id="6" name="矩形 5"/>
          <p:cNvSpPr/>
          <p:nvPr userDrawn="1"/>
        </p:nvSpPr>
        <p:spPr>
          <a:xfrm>
            <a:off x="12315190" y="5936615"/>
            <a:ext cx="417195" cy="154305"/>
          </a:xfrm>
          <a:prstGeom prst="rect">
            <a:avLst/>
          </a:prstGeom>
          <a:solidFill>
            <a:srgbClr val="F5F7F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900">
                <a:solidFill>
                  <a:srgbClr val="3FC1BE"/>
                </a:solidFill>
                <a:sym typeface="+mn-ea"/>
              </a:rPr>
              <a:t>辅助色</a:t>
            </a:r>
            <a:endParaRPr lang="zh-CN" altLang="en-US" sz="900">
              <a:solidFill>
                <a:srgbClr val="3FC1BE"/>
              </a:solidFill>
              <a:sym typeface="+mn-ea"/>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9.png"/><Relationship Id="rId1" Type="http://schemas.openxmlformats.org/officeDocument/2006/relationships/tags" Target="../tags/tag15.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0.png"/><Relationship Id="rId1" Type="http://schemas.openxmlformats.org/officeDocument/2006/relationships/tags" Target="../tags/tag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1.png"/><Relationship Id="rId1" Type="http://schemas.openxmlformats.org/officeDocument/2006/relationships/tags" Target="../tags/tag17.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2.png"/><Relationship Id="rId1" Type="http://schemas.openxmlformats.org/officeDocument/2006/relationships/tags" Target="../tags/tag18.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3.png"/><Relationship Id="rId1" Type="http://schemas.openxmlformats.org/officeDocument/2006/relationships/tags" Target="../tags/tag19.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4.png"/><Relationship Id="rId1" Type="http://schemas.openxmlformats.org/officeDocument/2006/relationships/tags" Target="../tags/tag2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tags" Target="../tags/tag22.xml"/><Relationship Id="rId2" Type="http://schemas.openxmlformats.org/officeDocument/2006/relationships/image" Target="../media/image15.png"/><Relationship Id="rId1" Type="http://schemas.openxmlformats.org/officeDocument/2006/relationships/tags" Target="../tags/tag21.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6.png"/><Relationship Id="rId1" Type="http://schemas.openxmlformats.org/officeDocument/2006/relationships/tags" Target="../tags/tag2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3.xml"/><Relationship Id="rId3" Type="http://schemas.openxmlformats.org/officeDocument/2006/relationships/image" Target="../media/image17.png"/><Relationship Id="rId2" Type="http://schemas.openxmlformats.org/officeDocument/2006/relationships/tags" Target="../tags/tag25.xml"/><Relationship Id="rId1" Type="http://schemas.openxmlformats.org/officeDocument/2006/relationships/tags" Target="../tags/tag24.xml"/></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3.xml"/><Relationship Id="rId3" Type="http://schemas.openxmlformats.org/officeDocument/2006/relationships/tags" Target="../tags/tag27.xml"/><Relationship Id="rId2" Type="http://schemas.openxmlformats.org/officeDocument/2006/relationships/image" Target="../media/image18.png"/><Relationship Id="rId1" Type="http://schemas.openxmlformats.org/officeDocument/2006/relationships/tags" Target="../tags/tag2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3.xml"/><Relationship Id="rId3" Type="http://schemas.openxmlformats.org/officeDocument/2006/relationships/image" Target="../media/image19.png"/><Relationship Id="rId2" Type="http://schemas.openxmlformats.org/officeDocument/2006/relationships/tags" Target="../tags/tag29.xml"/><Relationship Id="rId1" Type="http://schemas.openxmlformats.org/officeDocument/2006/relationships/tags" Target="../tags/tag2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0.png"/><Relationship Id="rId1" Type="http://schemas.openxmlformats.org/officeDocument/2006/relationships/tags" Target="../tags/tag30.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1.png"/><Relationship Id="rId1" Type="http://schemas.openxmlformats.org/officeDocument/2006/relationships/tags" Target="../tags/tag31.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2.png"/><Relationship Id="rId1" Type="http://schemas.openxmlformats.org/officeDocument/2006/relationships/tags" Target="../tags/tag3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3.png"/><Relationship Id="rId1" Type="http://schemas.openxmlformats.org/officeDocument/2006/relationships/tags" Target="../tags/tag33.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4.png"/><Relationship Id="rId1" Type="http://schemas.openxmlformats.org/officeDocument/2006/relationships/tags" Target="../tags/tag3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318135" y="4869180"/>
            <a:ext cx="5847715" cy="53657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4000" b="1" kern="1200">
                <a:solidFill>
                  <a:schemeClr val="tx1"/>
                </a:solidFill>
                <a:latin typeface="微软雅黑" panose="020B0503020204020204" charset="-122"/>
                <a:ea typeface="微软雅黑" panose="020B0503020204020204" charset="-122"/>
                <a:cs typeface="+mj-cs"/>
              </a:defRPr>
            </a:lvl1pPr>
          </a:lstStyle>
          <a:p>
            <a:pPr algn="l">
              <a:lnSpc>
                <a:spcPct val="150000"/>
              </a:lnSpc>
            </a:pPr>
            <a:r>
              <a:rPr lang="en-US" altLang="zh-CN" sz="2400" dirty="0">
                <a:solidFill>
                  <a:schemeClr val="bg1">
                    <a:lumMod val="95000"/>
                  </a:schemeClr>
                </a:solidFill>
                <a:latin typeface="+mj-ea"/>
                <a:ea typeface="+mj-ea"/>
              </a:rPr>
              <a:t>2025</a:t>
            </a:r>
            <a:r>
              <a:rPr lang="zh-CN" altLang="en-US" sz="2400" dirty="0">
                <a:solidFill>
                  <a:schemeClr val="bg1">
                    <a:lumMod val="95000"/>
                  </a:schemeClr>
                </a:solidFill>
                <a:latin typeface="+mj-ea"/>
                <a:ea typeface="+mj-ea"/>
              </a:rPr>
              <a:t>年</a:t>
            </a:r>
            <a:r>
              <a:rPr lang="en-US" altLang="zh-CN" sz="2400" dirty="0">
                <a:solidFill>
                  <a:schemeClr val="bg1">
                    <a:lumMod val="95000"/>
                  </a:schemeClr>
                </a:solidFill>
                <a:latin typeface="+mj-ea"/>
                <a:ea typeface="+mj-ea"/>
              </a:rPr>
              <a:t>9</a:t>
            </a:r>
            <a:r>
              <a:rPr lang="zh-CN" altLang="en-US" sz="2400" dirty="0">
                <a:solidFill>
                  <a:schemeClr val="bg1">
                    <a:lumMod val="95000"/>
                  </a:schemeClr>
                </a:solidFill>
                <a:latin typeface="+mj-ea"/>
                <a:ea typeface="+mj-ea"/>
              </a:rPr>
              <a:t>月</a:t>
            </a:r>
            <a:endParaRPr lang="zh-CN" altLang="en-US" sz="2400" dirty="0">
              <a:solidFill>
                <a:schemeClr val="bg1">
                  <a:lumMod val="95000"/>
                </a:schemeClr>
              </a:solidFill>
              <a:latin typeface="+mj-ea"/>
              <a:ea typeface="+mj-ea"/>
            </a:endParaRPr>
          </a:p>
        </p:txBody>
      </p:sp>
      <p:sp>
        <p:nvSpPr>
          <p:cNvPr id="6" name="标题 1"/>
          <p:cNvSpPr txBox="1"/>
          <p:nvPr/>
        </p:nvSpPr>
        <p:spPr>
          <a:xfrm>
            <a:off x="318135" y="1604010"/>
            <a:ext cx="9229725" cy="155511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chemeClr val="tx1"/>
                </a:solidFill>
                <a:latin typeface="微软雅黑" panose="020B0503020204020204" charset="-122"/>
                <a:ea typeface="微软雅黑" panose="020B0503020204020204" charset="-122"/>
                <a:cs typeface="+mj-cs"/>
              </a:defRPr>
            </a:lvl1pPr>
          </a:lstStyle>
          <a:p>
            <a:pPr algn="l">
              <a:lnSpc>
                <a:spcPct val="100000"/>
              </a:lnSpc>
            </a:pPr>
            <a:r>
              <a:rPr sz="3600" dirty="0">
                <a:solidFill>
                  <a:schemeClr val="bg1"/>
                </a:solidFill>
              </a:rPr>
              <a:t>基于SpringBoot医学影像管理系统</a:t>
            </a:r>
            <a:endParaRPr sz="3600" dirty="0">
              <a:solidFill>
                <a:schemeClr val="bg1"/>
              </a:solidFill>
            </a:endParaRPr>
          </a:p>
        </p:txBody>
      </p:sp>
      <p:sp>
        <p:nvSpPr>
          <p:cNvPr id="3" name="文本框 2"/>
          <p:cNvSpPr txBox="1"/>
          <p:nvPr/>
        </p:nvSpPr>
        <p:spPr>
          <a:xfrm>
            <a:off x="318135" y="3920490"/>
            <a:ext cx="7185025" cy="460375"/>
          </a:xfrm>
          <a:prstGeom prst="rect">
            <a:avLst/>
          </a:prstGeom>
          <a:noFill/>
        </p:spPr>
        <p:txBody>
          <a:bodyPr wrap="square" rtlCol="0" anchor="t">
            <a:spAutoFit/>
          </a:bodyPr>
          <a:lstStyle/>
          <a:p>
            <a:r>
              <a:rPr lang="zh-CN" altLang="en-US" sz="2400" b="1" dirty="0">
                <a:solidFill>
                  <a:schemeClr val="bg1">
                    <a:lumMod val="95000"/>
                  </a:schemeClr>
                </a:solidFill>
                <a:latin typeface="+mj-ea"/>
                <a:ea typeface="+mj-ea"/>
                <a:sym typeface="+mn-ea"/>
              </a:rPr>
              <a:t>汇报人：</a:t>
            </a:r>
            <a:r>
              <a:rPr lang="zh-CN" altLang="en-US" sz="2400" b="1" dirty="0">
                <a:solidFill>
                  <a:schemeClr val="bg1">
                    <a:lumMod val="95000"/>
                  </a:schemeClr>
                </a:solidFill>
                <a:latin typeface="+mj-ea"/>
                <a:ea typeface="+mj-ea"/>
                <a:sym typeface="+mn-ea"/>
              </a:rPr>
              <a:t>张翔硕</a:t>
            </a:r>
            <a:endParaRPr lang="zh-CN" altLang="en-US" sz="2400" b="1" dirty="0">
              <a:solidFill>
                <a:schemeClr val="bg1">
                  <a:lumMod val="95000"/>
                </a:schemeClr>
              </a:solidFill>
              <a:latin typeface="+mj-ea"/>
              <a:ea typeface="+mj-ea"/>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项目背景</a:t>
            </a:r>
            <a:endParaRPr lang="zh-CN" altLang="en-US" dirty="0"/>
          </a:p>
        </p:txBody>
      </p:sp>
      <p:sp>
        <p:nvSpPr>
          <p:cNvPr id="6" name="矩形 5"/>
          <p:cNvSpPr/>
          <p:nvPr/>
        </p:nvSpPr>
        <p:spPr>
          <a:xfrm>
            <a:off x="1418311" y="1908360"/>
            <a:ext cx="306070" cy="642620"/>
          </a:xfrm>
          <a:prstGeom prst="rect">
            <a:avLst/>
          </a:prstGeom>
        </p:spPr>
        <p:txBody>
          <a:bodyPr wrap="none" lIns="89629" tIns="44815" rIns="89629" bIns="44815">
            <a:spAutoFit/>
          </a:bodyPr>
          <a:lstStyle/>
          <a:p>
            <a:pPr algn="l">
              <a:lnSpc>
                <a:spcPct val="150000"/>
              </a:lnSpc>
              <a:spcAft>
                <a:spcPts val="1200"/>
              </a:spcAft>
            </a:pPr>
            <a:endParaRPr lang="zh-CN" altLang="en-US" sz="2400" b="1" dirty="0">
              <a:solidFill>
                <a:prstClr val="black">
                  <a:lumMod val="85000"/>
                  <a:lumOff val="15000"/>
                </a:prstClr>
              </a:solidFill>
              <a:latin typeface="微软雅黑" panose="020B0503020204020204" charset="-122"/>
              <a:ea typeface="微软雅黑" panose="020B0503020204020204" charset="-122"/>
            </a:endParaRPr>
          </a:p>
        </p:txBody>
      </p:sp>
      <p:sp>
        <p:nvSpPr>
          <p:cNvPr id="2" name="文本框 1"/>
          <p:cNvSpPr txBox="1"/>
          <p:nvPr/>
        </p:nvSpPr>
        <p:spPr>
          <a:xfrm>
            <a:off x="1071450" y="1305912"/>
            <a:ext cx="10051639" cy="4246245"/>
          </a:xfrm>
          <a:prstGeom prst="rect">
            <a:avLst/>
          </a:prstGeom>
          <a:noFill/>
        </p:spPr>
        <p:txBody>
          <a:bodyPr wrap="square" rtlCol="0">
            <a:spAutoFit/>
          </a:bodyPr>
          <a:lstStyle/>
          <a:p>
            <a:pPr indent="304800" fontAlgn="auto">
              <a:lnSpc>
                <a:spcPct val="150000"/>
              </a:lnSpc>
            </a:pPr>
            <a:r>
              <a:rPr lang="zh-CN" altLang="zh-CN" kern="100" dirty="0">
                <a:effectLst/>
                <a:latin typeface="宋体" pitchFamily="2" charset="-122"/>
                <a:ea typeface="宋体" pitchFamily="2" charset="-122"/>
              </a:rPr>
              <a:t>随着现代医疗技术的快速发展，CT、MRI、超声、PET-CT 等医学影像设备广泛应用于临床诊疗，其产生的数字影像数据呈现出数量庞大、体积巨大、更新频繁的特征。传统的影像管理方式，如依赖物理胶片存储或医院内部的分散化本地存储，不仅占用大量物理空间，还存在影像易损毁、检索效率低、跨部门共享受限、难以满足远程会诊和多学科协作等问题。这种模式已无法适应现代医疗对高效、安全、标准化和互联互通的迫切需求。</a:t>
            </a:r>
            <a:endParaRPr lang="zh-CN" altLang="zh-CN" kern="100" dirty="0">
              <a:effectLst/>
              <a:latin typeface="宋体" pitchFamily="2" charset="-122"/>
              <a:ea typeface="宋体" pitchFamily="2" charset="-122"/>
            </a:endParaRPr>
          </a:p>
          <a:p>
            <a:pPr indent="304800" fontAlgn="auto">
              <a:lnSpc>
                <a:spcPct val="150000"/>
              </a:lnSpc>
            </a:pPr>
            <a:r>
              <a:rPr lang="zh-CN" altLang="zh-CN" kern="100" dirty="0">
                <a:effectLst/>
                <a:latin typeface="宋体" pitchFamily="2" charset="-122"/>
                <a:ea typeface="宋体" pitchFamily="2" charset="-122"/>
              </a:rPr>
              <a:t>因此，开发一个集中式的医学影像管理系统（IMMS），具有重要的现实意义和价值。该系统不仅需要实现对海量影像数据的高效接入、结构化存储和快速检索，还应保障数据在传输和存储过程中的隐私保护与信息安全，符合医疗行业的数据合规要求。同时，系统应提供便捷的影像共享机制，支持院内外多角色、多层级用户的协同工作，促进远程会诊、双向转诊、多学科诊疗（MDT）的开展，从而提升医疗资源的利用效率。</a:t>
            </a:r>
            <a:endParaRPr lang="zh-CN" altLang="zh-CN" kern="100" dirty="0">
              <a:effectLst/>
              <a:latin typeface="宋体" pitchFamily="2" charset="-122"/>
              <a:ea typeface="宋体"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dirty="0"/>
              <a:t>数据库</a:t>
            </a:r>
            <a:r>
              <a:rPr dirty="0"/>
              <a:t>设计</a:t>
            </a:r>
            <a:endParaRPr dirty="0"/>
          </a:p>
        </p:txBody>
      </p:sp>
      <p:sp>
        <p:nvSpPr>
          <p:cNvPr id="6" name="矩形 5"/>
          <p:cNvSpPr/>
          <p:nvPr/>
        </p:nvSpPr>
        <p:spPr>
          <a:xfrm>
            <a:off x="1418311" y="1908360"/>
            <a:ext cx="306070" cy="642620"/>
          </a:xfrm>
          <a:prstGeom prst="rect">
            <a:avLst/>
          </a:prstGeom>
        </p:spPr>
        <p:txBody>
          <a:bodyPr wrap="none" lIns="89629" tIns="44815" rIns="89629" bIns="44815">
            <a:spAutoFit/>
          </a:bodyPr>
          <a:lstStyle/>
          <a:p>
            <a:pPr algn="l">
              <a:lnSpc>
                <a:spcPct val="150000"/>
              </a:lnSpc>
              <a:spcAft>
                <a:spcPts val="1200"/>
              </a:spcAft>
            </a:pPr>
            <a:endParaRPr lang="zh-CN" altLang="en-US" sz="2400" b="1" dirty="0">
              <a:solidFill>
                <a:prstClr val="black">
                  <a:lumMod val="85000"/>
                  <a:lumOff val="15000"/>
                </a:prstClr>
              </a:solidFill>
              <a:latin typeface="微软雅黑" panose="020B0503020204020204" charset="-122"/>
              <a:ea typeface="微软雅黑" panose="020B0503020204020204" charset="-122"/>
            </a:endParaRPr>
          </a:p>
        </p:txBody>
      </p:sp>
      <p:pic>
        <p:nvPicPr>
          <p:cNvPr id="3" name="图片 2"/>
          <p:cNvPicPr>
            <a:picLocks noChangeAspect="1"/>
          </p:cNvPicPr>
          <p:nvPr>
            <p:custDataLst>
              <p:tags r:id="rId1"/>
            </p:custDataLst>
          </p:nvPr>
        </p:nvPicPr>
        <p:blipFill>
          <a:blip r:embed="rId2"/>
          <a:stretch>
            <a:fillRect/>
          </a:stretch>
        </p:blipFill>
        <p:spPr>
          <a:xfrm>
            <a:off x="1418590" y="953770"/>
            <a:ext cx="9627870" cy="5791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t>系统业务流程</a:t>
            </a:r>
            <a:endParaRPr lang="zh-CN" altLang="en-US" dirty="0"/>
          </a:p>
        </p:txBody>
      </p:sp>
      <p:pic>
        <p:nvPicPr>
          <p:cNvPr id="3" name="图片 2"/>
          <p:cNvPicPr>
            <a:picLocks noChangeAspect="1"/>
          </p:cNvPicPr>
          <p:nvPr>
            <p:custDataLst>
              <p:tags r:id="rId1"/>
            </p:custDataLst>
          </p:nvPr>
        </p:nvPicPr>
        <p:blipFill>
          <a:blip r:embed="rId2"/>
          <a:stretch>
            <a:fillRect/>
          </a:stretch>
        </p:blipFill>
        <p:spPr>
          <a:xfrm>
            <a:off x="428625" y="1217295"/>
            <a:ext cx="11334750" cy="548195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患者预约</a:t>
            </a:r>
            <a:r>
              <a:rPr lang="zh-CN" altLang="en-US" dirty="0"/>
              <a:t>流程</a:t>
            </a:r>
            <a:endParaRPr lang="zh-CN" altLang="en-US" dirty="0"/>
          </a:p>
        </p:txBody>
      </p:sp>
      <p:sp>
        <p:nvSpPr>
          <p:cNvPr id="5" name="文本框 4"/>
          <p:cNvSpPr txBox="1"/>
          <p:nvPr/>
        </p:nvSpPr>
        <p:spPr>
          <a:xfrm>
            <a:off x="493395" y="1228725"/>
            <a:ext cx="11294745" cy="5163820"/>
          </a:xfrm>
          <a:prstGeom prst="rect">
            <a:avLst/>
          </a:prstGeom>
          <a:noFill/>
        </p:spPr>
        <p:txBody>
          <a:bodyPr wrap="square" rtlCol="0">
            <a:noAutofit/>
          </a:bodyPr>
          <a:p>
            <a:pPr fontAlgn="auto">
              <a:lnSpc>
                <a:spcPct val="150000"/>
              </a:lnSpc>
            </a:pPr>
            <a:r>
              <a:rPr lang="zh-CN" altLang="zh-CN" kern="100" dirty="0">
                <a:effectLst/>
                <a:latin typeface="宋体" pitchFamily="2" charset="-122"/>
                <a:ea typeface="宋体" pitchFamily="2" charset="-122"/>
              </a:rPr>
              <a:t>患者预约实现原理：</a:t>
            </a:r>
            <a:endParaRPr lang="zh-CN" altLang="zh-CN" kern="100" dirty="0">
              <a:effectLst/>
              <a:latin typeface="宋体" pitchFamily="2" charset="-122"/>
              <a:ea typeface="宋体" pitchFamily="2" charset="-122"/>
            </a:endParaRPr>
          </a:p>
          <a:p>
            <a:pPr fontAlgn="auto">
              <a:lnSpc>
                <a:spcPct val="150000"/>
              </a:lnSpc>
            </a:pPr>
            <a:r>
              <a:rPr lang="zh-CN" altLang="zh-CN" kern="100" dirty="0">
                <a:effectLst/>
                <a:latin typeface="宋体" pitchFamily="2" charset="-122"/>
                <a:ea typeface="宋体" pitchFamily="2" charset="-122"/>
              </a:rPr>
              <a:t>（</a:t>
            </a:r>
            <a:r>
              <a:rPr lang="en-US" altLang="zh-CN" kern="100" dirty="0">
                <a:effectLst/>
                <a:latin typeface="宋体" pitchFamily="2" charset="-122"/>
                <a:ea typeface="宋体" pitchFamily="2" charset="-122"/>
              </a:rPr>
              <a:t>1</a:t>
            </a:r>
            <a:r>
              <a:rPr lang="zh-CN" altLang="zh-CN" kern="100" dirty="0">
                <a:effectLst/>
                <a:latin typeface="宋体" pitchFamily="2" charset="-122"/>
                <a:ea typeface="宋体" pitchFamily="2" charset="-122"/>
              </a:rPr>
              <a:t>）医院工作时间为上午</a:t>
            </a:r>
            <a:r>
              <a:rPr lang="en-US" altLang="zh-CN" kern="100" dirty="0">
                <a:effectLst/>
                <a:latin typeface="宋体" pitchFamily="2" charset="-122"/>
                <a:ea typeface="宋体" pitchFamily="2" charset="-122"/>
              </a:rPr>
              <a:t>9</a:t>
            </a:r>
            <a:r>
              <a:rPr lang="zh-CN" altLang="en-US" kern="100" dirty="0">
                <a:effectLst/>
                <a:latin typeface="宋体" pitchFamily="2" charset="-122"/>
                <a:ea typeface="宋体" pitchFamily="2" charset="-122"/>
              </a:rPr>
              <a:t>点到下午</a:t>
            </a:r>
            <a:r>
              <a:rPr lang="en-US" altLang="zh-CN" kern="100" dirty="0">
                <a:effectLst/>
                <a:latin typeface="宋体" pitchFamily="2" charset="-122"/>
                <a:ea typeface="宋体" pitchFamily="2" charset="-122"/>
              </a:rPr>
              <a:t>5</a:t>
            </a:r>
            <a:r>
              <a:rPr lang="zh-CN" altLang="en-US" kern="100" dirty="0">
                <a:effectLst/>
                <a:latin typeface="宋体" pitchFamily="2" charset="-122"/>
                <a:ea typeface="宋体" pitchFamily="2" charset="-122"/>
              </a:rPr>
              <a:t>点，患者可以在这个时间内预约。</a:t>
            </a:r>
            <a:endParaRPr lang="zh-CN" altLang="en-US" kern="100" dirty="0">
              <a:effectLst/>
              <a:latin typeface="宋体" pitchFamily="2" charset="-122"/>
              <a:ea typeface="宋体" pitchFamily="2" charset="-122"/>
            </a:endParaRPr>
          </a:p>
          <a:p>
            <a:pPr fontAlgn="auto">
              <a:lnSpc>
                <a:spcPct val="150000"/>
              </a:lnSpc>
            </a:pPr>
            <a:r>
              <a:rPr lang="zh-CN" altLang="en-US" kern="100" dirty="0">
                <a:effectLst/>
                <a:latin typeface="宋体" pitchFamily="2" charset="-122"/>
                <a:ea typeface="宋体" pitchFamily="2" charset="-122"/>
              </a:rPr>
              <a:t>（</a:t>
            </a:r>
            <a:r>
              <a:rPr lang="en-US" altLang="zh-CN" kern="100" dirty="0">
                <a:effectLst/>
                <a:latin typeface="宋体" pitchFamily="2" charset="-122"/>
                <a:ea typeface="宋体" pitchFamily="2" charset="-122"/>
              </a:rPr>
              <a:t>2</a:t>
            </a:r>
            <a:r>
              <a:rPr lang="zh-CN" altLang="en-US" kern="100" dirty="0">
                <a:effectLst/>
                <a:latin typeface="宋体" pitchFamily="2" charset="-122"/>
                <a:ea typeface="宋体" pitchFamily="2" charset="-122"/>
              </a:rPr>
              <a:t>）预约时间是按照时间段的，系统设置每</a:t>
            </a:r>
            <a:r>
              <a:rPr lang="en-US" altLang="zh-CN" kern="100" dirty="0">
                <a:effectLst/>
                <a:latin typeface="宋体" pitchFamily="2" charset="-122"/>
                <a:ea typeface="宋体" pitchFamily="2" charset="-122"/>
              </a:rPr>
              <a:t>30min</a:t>
            </a:r>
            <a:r>
              <a:rPr lang="zh-CN" altLang="en-US" kern="100" dirty="0">
                <a:effectLst/>
                <a:latin typeface="宋体" pitchFamily="2" charset="-122"/>
                <a:ea typeface="宋体" pitchFamily="2" charset="-122"/>
              </a:rPr>
              <a:t>为一个时间段，从上午</a:t>
            </a:r>
            <a:r>
              <a:rPr lang="en-US" altLang="zh-CN" kern="100" dirty="0">
                <a:effectLst/>
                <a:latin typeface="宋体" pitchFamily="2" charset="-122"/>
                <a:ea typeface="宋体" pitchFamily="2" charset="-122"/>
              </a:rPr>
              <a:t>9</a:t>
            </a:r>
            <a:r>
              <a:rPr lang="zh-CN" altLang="en-US" kern="100" dirty="0">
                <a:effectLst/>
                <a:latin typeface="宋体" pitchFamily="2" charset="-122"/>
                <a:ea typeface="宋体" pitchFamily="2" charset="-122"/>
              </a:rPr>
              <a:t>点到下午</a:t>
            </a:r>
            <a:r>
              <a:rPr lang="en-US" altLang="zh-CN" kern="100" dirty="0">
                <a:effectLst/>
                <a:latin typeface="宋体" pitchFamily="2" charset="-122"/>
                <a:ea typeface="宋体" pitchFamily="2" charset="-122"/>
              </a:rPr>
              <a:t>5</a:t>
            </a:r>
            <a:r>
              <a:rPr lang="zh-CN" altLang="en-US" kern="100" dirty="0">
                <a:effectLst/>
                <a:latin typeface="宋体" pitchFamily="2" charset="-122"/>
                <a:ea typeface="宋体" pitchFamily="2" charset="-122"/>
              </a:rPr>
              <a:t>点依次划分。</a:t>
            </a:r>
            <a:endParaRPr lang="zh-CN" altLang="en-US" kern="100" dirty="0">
              <a:effectLst/>
              <a:latin typeface="宋体" pitchFamily="2" charset="-122"/>
              <a:ea typeface="宋体" pitchFamily="2" charset="-122"/>
            </a:endParaRPr>
          </a:p>
          <a:p>
            <a:pPr fontAlgn="auto">
              <a:lnSpc>
                <a:spcPct val="150000"/>
              </a:lnSpc>
            </a:pPr>
            <a:r>
              <a:rPr lang="zh-CN" altLang="en-US" kern="100" dirty="0">
                <a:effectLst/>
                <a:latin typeface="宋体" pitchFamily="2" charset="-122"/>
                <a:ea typeface="宋体" pitchFamily="2" charset="-122"/>
              </a:rPr>
              <a:t>（</a:t>
            </a:r>
            <a:r>
              <a:rPr lang="en-US" altLang="zh-CN" kern="100" dirty="0">
                <a:effectLst/>
                <a:latin typeface="宋体" pitchFamily="2" charset="-122"/>
                <a:ea typeface="宋体" pitchFamily="2" charset="-122"/>
              </a:rPr>
              <a:t>3</a:t>
            </a:r>
            <a:r>
              <a:rPr lang="zh-CN" altLang="en-US" kern="100" dirty="0">
                <a:effectLst/>
                <a:latin typeface="宋体" pitchFamily="2" charset="-122"/>
                <a:ea typeface="宋体" pitchFamily="2" charset="-122"/>
              </a:rPr>
              <a:t>）每个拍片类型的每个时间段预约人数是有限制（系统设置为</a:t>
            </a:r>
            <a:r>
              <a:rPr lang="en-US" altLang="zh-CN" kern="100" dirty="0">
                <a:effectLst/>
                <a:latin typeface="宋体" pitchFamily="2" charset="-122"/>
                <a:ea typeface="宋体" pitchFamily="2" charset="-122"/>
              </a:rPr>
              <a:t>5</a:t>
            </a:r>
            <a:r>
              <a:rPr lang="zh-CN" altLang="en-US" kern="100" dirty="0">
                <a:effectLst/>
                <a:latin typeface="宋体" pitchFamily="2" charset="-122"/>
                <a:ea typeface="宋体" pitchFamily="2" charset="-122"/>
              </a:rPr>
              <a:t>人），患者在预约时，只能选择时有空闲的时间段进行预约，每个时间端内患者的默认排序按照这个时间段内患者预约订单提交的顺序进行排序的。</a:t>
            </a:r>
            <a:endParaRPr lang="zh-CN" altLang="en-US" kern="100" dirty="0">
              <a:effectLst/>
              <a:latin typeface="宋体" pitchFamily="2" charset="-122"/>
              <a:ea typeface="宋体" pitchFamily="2" charset="-122"/>
            </a:endParaRPr>
          </a:p>
          <a:p>
            <a:pPr fontAlgn="auto">
              <a:lnSpc>
                <a:spcPct val="150000"/>
              </a:lnSpc>
            </a:pPr>
            <a:r>
              <a:rPr lang="zh-CN" altLang="en-US" kern="100" dirty="0">
                <a:effectLst/>
                <a:latin typeface="宋体" pitchFamily="2" charset="-122"/>
                <a:ea typeface="宋体" pitchFamily="2" charset="-122"/>
              </a:rPr>
              <a:t>（</a:t>
            </a:r>
            <a:r>
              <a:rPr lang="en-US" altLang="zh-CN" kern="100" dirty="0">
                <a:effectLst/>
                <a:latin typeface="宋体" pitchFamily="2" charset="-122"/>
                <a:ea typeface="宋体" pitchFamily="2" charset="-122"/>
              </a:rPr>
              <a:t>4</a:t>
            </a:r>
            <a:r>
              <a:rPr lang="zh-CN" altLang="en-US" kern="100" dirty="0">
                <a:effectLst/>
                <a:latin typeface="宋体" pitchFamily="2" charset="-122"/>
                <a:ea typeface="宋体" pitchFamily="2" charset="-122"/>
              </a:rPr>
              <a:t>）预约成功的患者需要在预约的时间段的前</a:t>
            </a:r>
            <a:r>
              <a:rPr lang="en-US" altLang="zh-CN" kern="100" dirty="0">
                <a:effectLst/>
                <a:latin typeface="宋体" pitchFamily="2" charset="-122"/>
                <a:ea typeface="宋体" pitchFamily="2" charset="-122"/>
              </a:rPr>
              <a:t>10min</a:t>
            </a:r>
            <a:r>
              <a:rPr lang="zh-CN" altLang="en-US" kern="100" dirty="0">
                <a:effectLst/>
                <a:latin typeface="宋体" pitchFamily="2" charset="-122"/>
                <a:ea typeface="宋体" pitchFamily="2" charset="-122"/>
              </a:rPr>
              <a:t>，后</a:t>
            </a:r>
            <a:r>
              <a:rPr lang="en-US" altLang="zh-CN" kern="100" dirty="0">
                <a:effectLst/>
                <a:latin typeface="宋体" pitchFamily="2" charset="-122"/>
                <a:ea typeface="宋体" pitchFamily="2" charset="-122"/>
              </a:rPr>
              <a:t>30min</a:t>
            </a:r>
            <a:r>
              <a:rPr lang="zh-CN" altLang="en-US" kern="100" dirty="0">
                <a:effectLst/>
                <a:latin typeface="宋体" pitchFamily="2" charset="-122"/>
                <a:ea typeface="宋体" pitchFamily="2" charset="-122"/>
              </a:rPr>
              <a:t>之内到达医院进行报道。</a:t>
            </a:r>
            <a:endParaRPr lang="zh-CN" altLang="en-US" kern="100" dirty="0">
              <a:effectLst/>
              <a:latin typeface="宋体" pitchFamily="2" charset="-122"/>
              <a:ea typeface="宋体" pitchFamily="2" charset="-122"/>
            </a:endParaRPr>
          </a:p>
          <a:p>
            <a:pPr fontAlgn="auto">
              <a:lnSpc>
                <a:spcPct val="150000"/>
              </a:lnSpc>
            </a:pPr>
            <a:r>
              <a:rPr lang="zh-CN" altLang="en-US" kern="100" dirty="0">
                <a:effectLst/>
                <a:latin typeface="宋体" pitchFamily="2" charset="-122"/>
                <a:ea typeface="宋体" pitchFamily="2" charset="-122"/>
              </a:rPr>
              <a:t>（</a:t>
            </a:r>
            <a:r>
              <a:rPr lang="en-US" altLang="zh-CN" kern="100" dirty="0">
                <a:effectLst/>
                <a:latin typeface="宋体" pitchFamily="2" charset="-122"/>
                <a:ea typeface="宋体" pitchFamily="2" charset="-122"/>
              </a:rPr>
              <a:t>5</a:t>
            </a:r>
            <a:r>
              <a:rPr lang="zh-CN" altLang="en-US" kern="100" dirty="0">
                <a:effectLst/>
                <a:latin typeface="宋体" pitchFamily="2" charset="-122"/>
                <a:ea typeface="宋体" pitchFamily="2" charset="-122"/>
              </a:rPr>
              <a:t>）若患者超过预约时间段后</a:t>
            </a:r>
            <a:r>
              <a:rPr lang="en-US" altLang="zh-CN" kern="100" dirty="0">
                <a:effectLst/>
                <a:latin typeface="宋体" pitchFamily="2" charset="-122"/>
                <a:ea typeface="宋体" pitchFamily="2" charset="-122"/>
              </a:rPr>
              <a:t>30min</a:t>
            </a:r>
            <a:r>
              <a:rPr lang="zh-CN" altLang="en-US" kern="100" dirty="0">
                <a:effectLst/>
                <a:latin typeface="宋体" pitchFamily="2" charset="-122"/>
                <a:ea typeface="宋体" pitchFamily="2" charset="-122"/>
              </a:rPr>
              <a:t>没有</a:t>
            </a:r>
            <a:r>
              <a:rPr lang="zh-CN" altLang="en-US" kern="100" dirty="0">
                <a:effectLst/>
                <a:latin typeface="宋体" pitchFamily="2" charset="-122"/>
                <a:ea typeface="宋体" pitchFamily="2" charset="-122"/>
              </a:rPr>
              <a:t>报道，预约记录自动取消。</a:t>
            </a:r>
            <a:endParaRPr lang="zh-CN" altLang="en-US" kern="100" dirty="0">
              <a:effectLst/>
              <a:latin typeface="宋体" pitchFamily="2" charset="-122"/>
              <a:ea typeface="宋体" pitchFamily="2" charset="-122"/>
            </a:endParaRPr>
          </a:p>
          <a:p>
            <a:pPr fontAlgn="auto">
              <a:lnSpc>
                <a:spcPct val="150000"/>
              </a:lnSpc>
            </a:pPr>
            <a:r>
              <a:rPr lang="zh-CN" altLang="en-US" kern="100" dirty="0">
                <a:effectLst/>
                <a:latin typeface="宋体" pitchFamily="2" charset="-122"/>
                <a:ea typeface="宋体" pitchFamily="2" charset="-122"/>
              </a:rPr>
              <a:t>（</a:t>
            </a:r>
            <a:r>
              <a:rPr lang="en-US" altLang="zh-CN" kern="100" dirty="0">
                <a:effectLst/>
                <a:latin typeface="宋体" pitchFamily="2" charset="-122"/>
                <a:ea typeface="宋体" pitchFamily="2" charset="-122"/>
              </a:rPr>
              <a:t>6</a:t>
            </a:r>
            <a:r>
              <a:rPr lang="zh-CN" altLang="en-US" kern="100" dirty="0">
                <a:effectLst/>
                <a:latin typeface="宋体" pitchFamily="2" charset="-122"/>
                <a:ea typeface="宋体" pitchFamily="2" charset="-122"/>
              </a:rPr>
              <a:t>）患者若在预约时间段前</a:t>
            </a:r>
            <a:r>
              <a:rPr lang="en-US" altLang="zh-CN" kern="100" dirty="0">
                <a:effectLst/>
                <a:latin typeface="宋体" pitchFamily="2" charset="-122"/>
                <a:ea typeface="宋体" pitchFamily="2" charset="-122"/>
              </a:rPr>
              <a:t>10min</a:t>
            </a:r>
            <a:r>
              <a:rPr lang="zh-CN" altLang="en-US" kern="100" dirty="0">
                <a:effectLst/>
                <a:latin typeface="宋体" pitchFamily="2" charset="-122"/>
                <a:ea typeface="宋体" pitchFamily="2" charset="-122"/>
              </a:rPr>
              <a:t>之内完成报道，不会进入医生的候诊名单，需要在预约时间段开始后加入候诊</a:t>
            </a:r>
            <a:r>
              <a:rPr lang="zh-CN" altLang="en-US" kern="100" dirty="0">
                <a:effectLst/>
                <a:latin typeface="宋体" pitchFamily="2" charset="-122"/>
                <a:ea typeface="宋体" pitchFamily="2" charset="-122"/>
              </a:rPr>
              <a:t>名单。</a:t>
            </a:r>
            <a:endParaRPr lang="zh-CN" altLang="en-US" kern="100" dirty="0">
              <a:effectLst/>
              <a:latin typeface="宋体" pitchFamily="2" charset="-122"/>
              <a:ea typeface="宋体" pitchFamily="2" charset="-122"/>
            </a:endParaRPr>
          </a:p>
          <a:p>
            <a:pPr fontAlgn="auto">
              <a:lnSpc>
                <a:spcPct val="150000"/>
              </a:lnSpc>
            </a:pPr>
            <a:r>
              <a:rPr lang="zh-CN" altLang="en-US" kern="100" dirty="0">
                <a:effectLst/>
                <a:latin typeface="宋体" pitchFamily="2" charset="-122"/>
                <a:ea typeface="宋体" pitchFamily="2" charset="-122"/>
              </a:rPr>
              <a:t>（</a:t>
            </a:r>
            <a:r>
              <a:rPr lang="en-US" altLang="zh-CN" kern="100" dirty="0">
                <a:effectLst/>
                <a:latin typeface="宋体" pitchFamily="2" charset="-122"/>
                <a:ea typeface="宋体" pitchFamily="2" charset="-122"/>
              </a:rPr>
              <a:t>7</a:t>
            </a:r>
            <a:r>
              <a:rPr lang="zh-CN" altLang="en-US" kern="100" dirty="0">
                <a:effectLst/>
                <a:latin typeface="宋体" pitchFamily="2" charset="-122"/>
                <a:ea typeface="宋体" pitchFamily="2" charset="-122"/>
              </a:rPr>
              <a:t>）在预约时间段或者预约时间段的前</a:t>
            </a:r>
            <a:r>
              <a:rPr lang="en-US" altLang="zh-CN" kern="100" dirty="0">
                <a:effectLst/>
                <a:latin typeface="宋体" pitchFamily="2" charset="-122"/>
                <a:ea typeface="宋体" pitchFamily="2" charset="-122"/>
              </a:rPr>
              <a:t>10min</a:t>
            </a:r>
            <a:r>
              <a:rPr lang="zh-CN" altLang="en-US" kern="100" dirty="0">
                <a:effectLst/>
                <a:latin typeface="宋体" pitchFamily="2" charset="-122"/>
                <a:ea typeface="宋体" pitchFamily="2" charset="-122"/>
              </a:rPr>
              <a:t>、后</a:t>
            </a:r>
            <a:r>
              <a:rPr lang="en-US" altLang="zh-CN" kern="100" dirty="0">
                <a:effectLst/>
                <a:latin typeface="宋体" pitchFamily="2" charset="-122"/>
                <a:ea typeface="宋体" pitchFamily="2" charset="-122"/>
              </a:rPr>
              <a:t>30min</a:t>
            </a:r>
            <a:r>
              <a:rPr lang="zh-CN" altLang="en-US" kern="100" dirty="0">
                <a:effectLst/>
                <a:latin typeface="宋体" pitchFamily="2" charset="-122"/>
                <a:ea typeface="宋体" pitchFamily="2" charset="-122"/>
              </a:rPr>
              <a:t>之内的报道的患者，加入医生的候诊名单，候诊名单排序按照报道的时间进行排序。</a:t>
            </a:r>
            <a:endParaRPr lang="zh-CN" altLang="en-US" kern="100" dirty="0">
              <a:effectLst/>
              <a:latin typeface="宋体" pitchFamily="2" charset="-122"/>
              <a:ea typeface="宋体" pitchFamily="2" charset="-122"/>
            </a:endParaRPr>
          </a:p>
          <a:p>
            <a:pPr fontAlgn="auto">
              <a:lnSpc>
                <a:spcPct val="150000"/>
              </a:lnSpc>
            </a:pPr>
            <a:r>
              <a:rPr lang="zh-CN" altLang="zh-CN" kern="100" dirty="0">
                <a:effectLst/>
                <a:latin typeface="宋体" pitchFamily="2" charset="-122"/>
                <a:ea typeface="宋体" pitchFamily="2" charset="-122"/>
              </a:rPr>
              <a:t>（</a:t>
            </a:r>
            <a:r>
              <a:rPr lang="en-US" altLang="zh-CN" kern="100" dirty="0">
                <a:effectLst/>
                <a:latin typeface="宋体" pitchFamily="2" charset="-122"/>
                <a:ea typeface="宋体" pitchFamily="2" charset="-122"/>
              </a:rPr>
              <a:t>8</a:t>
            </a:r>
            <a:r>
              <a:rPr lang="zh-CN" altLang="zh-CN" kern="100" dirty="0">
                <a:effectLst/>
                <a:latin typeface="宋体" pitchFamily="2" charset="-122"/>
                <a:ea typeface="宋体" pitchFamily="2" charset="-122"/>
              </a:rPr>
              <a:t>）医生按照候诊名单的顺序对患者依次</a:t>
            </a:r>
            <a:r>
              <a:rPr lang="zh-CN" altLang="zh-CN" kern="100" dirty="0">
                <a:effectLst/>
                <a:latin typeface="宋体" pitchFamily="2" charset="-122"/>
                <a:ea typeface="宋体" pitchFamily="2" charset="-122"/>
              </a:rPr>
              <a:t>就医。</a:t>
            </a:r>
            <a:endParaRPr lang="zh-CN" altLang="zh-CN" kern="100" dirty="0">
              <a:effectLst/>
              <a:latin typeface="宋体" pitchFamily="2" charset="-122"/>
              <a:ea typeface="宋体" pitchFamily="2" charset="-122"/>
            </a:endParaRPr>
          </a:p>
          <a:p>
            <a:pPr fontAlgn="auto">
              <a:lnSpc>
                <a:spcPct val="150000"/>
              </a:lnSpc>
            </a:pPr>
            <a:endParaRPr lang="zh-CN" altLang="en-US"/>
          </a:p>
          <a:p>
            <a:pPr fontAlgn="auto">
              <a:lnSpc>
                <a:spcPct val="150000"/>
              </a:lnSpc>
            </a:pP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患者预约</a:t>
            </a:r>
            <a:r>
              <a:rPr lang="zh-CN" altLang="en-US" dirty="0"/>
              <a:t>实现</a:t>
            </a:r>
            <a:endParaRPr lang="zh-CN" altLang="en-US" dirty="0"/>
          </a:p>
        </p:txBody>
      </p:sp>
      <p:sp>
        <p:nvSpPr>
          <p:cNvPr id="5" name="文本框 4"/>
          <p:cNvSpPr txBox="1"/>
          <p:nvPr/>
        </p:nvSpPr>
        <p:spPr>
          <a:xfrm>
            <a:off x="493395" y="1228725"/>
            <a:ext cx="11294745" cy="5163820"/>
          </a:xfrm>
          <a:prstGeom prst="rect">
            <a:avLst/>
          </a:prstGeom>
          <a:noFill/>
        </p:spPr>
        <p:txBody>
          <a:bodyPr wrap="square" rtlCol="0">
            <a:noAutofit/>
          </a:bodyPr>
          <a:p>
            <a:pPr algn="l" fontAlgn="auto">
              <a:lnSpc>
                <a:spcPct val="150000"/>
              </a:lnSpc>
              <a:buClrTx/>
              <a:buSzTx/>
              <a:buNone/>
            </a:pPr>
            <a:r>
              <a:rPr lang="zh-CN" altLang="zh-CN" kern="100" dirty="0">
                <a:effectLst/>
                <a:latin typeface="宋体" pitchFamily="2" charset="-122"/>
                <a:ea typeface="宋体" pitchFamily="2" charset="-122"/>
              </a:rPr>
              <a:t>（1）创建预约</a:t>
            </a:r>
            <a:endParaRPr lang="zh-CN" altLang="zh-CN" kern="100" dirty="0">
              <a:effectLst/>
              <a:latin typeface="宋体" pitchFamily="2" charset="-122"/>
              <a:ea typeface="宋体" pitchFamily="2" charset="-122"/>
            </a:endParaRPr>
          </a:p>
          <a:p>
            <a:pPr algn="l" fontAlgn="auto">
              <a:lnSpc>
                <a:spcPct val="150000"/>
              </a:lnSpc>
              <a:buClrTx/>
              <a:buSzTx/>
              <a:buNone/>
            </a:pPr>
            <a:r>
              <a:rPr lang="zh-CN" altLang="zh-CN" kern="100" dirty="0">
                <a:effectLst/>
                <a:latin typeface="宋体" pitchFamily="2" charset="-122"/>
                <a:ea typeface="宋体" pitchFamily="2" charset="-122"/>
              </a:rPr>
              <a:t>患者在CreateAppointment.vue添加预约信息，当患者选择日期和类型后，会触发fetchAvailableSlots方法，将选择日期与预约类型传到后端/create接口。</a:t>
            </a:r>
            <a:endParaRPr lang="zh-CN" altLang="zh-CN" kern="100" dirty="0">
              <a:effectLst/>
              <a:latin typeface="宋体" pitchFamily="2" charset="-122"/>
              <a:ea typeface="宋体" pitchFamily="2" charset="-122"/>
            </a:endParaRPr>
          </a:p>
          <a:p>
            <a:pPr algn="l" fontAlgn="auto">
              <a:lnSpc>
                <a:spcPct val="150000"/>
              </a:lnSpc>
              <a:buClrTx/>
              <a:buSzTx/>
              <a:buNone/>
            </a:pPr>
            <a:r>
              <a:rPr lang="zh-CN" altLang="zh-CN" kern="100" dirty="0">
                <a:effectLst/>
                <a:latin typeface="宋体" pitchFamily="2" charset="-122"/>
                <a:ea typeface="宋体" pitchFamily="2" charset="-122"/>
              </a:rPr>
              <a:t>后端首先会验证用户信息是否在数据库中存在；若存在，查询数据库中该预约时段已经预约的人数是否达到了上限；若没有满员，将该预约记录的状态设置为PENDING，将预约记录插入数据库中；</a:t>
            </a:r>
            <a:endParaRPr lang="zh-CN" altLang="zh-CN" kern="100" dirty="0">
              <a:effectLst/>
              <a:latin typeface="宋体" pitchFamily="2" charset="-122"/>
              <a:ea typeface="宋体" pitchFamily="2" charset="-122"/>
            </a:endParaRPr>
          </a:p>
          <a:p>
            <a:pPr algn="l" fontAlgn="auto">
              <a:lnSpc>
                <a:spcPct val="150000"/>
              </a:lnSpc>
              <a:buClrTx/>
              <a:buSzTx/>
              <a:buNone/>
            </a:pPr>
            <a:r>
              <a:rPr lang="zh-CN" altLang="zh-CN" kern="100" dirty="0">
                <a:effectLst/>
                <a:latin typeface="宋体" pitchFamily="2" charset="-122"/>
                <a:ea typeface="宋体" pitchFamily="2" charset="-122"/>
              </a:rPr>
              <a:t>最后使用Websocket发送消息messagingTemplate.convertAndSend("/topic/checkin-list", "update")，将患者的预约记录加入到医护人员的待报道列表中。</a:t>
            </a:r>
            <a:endParaRPr lang="zh-CN" altLang="zh-CN" kern="100" dirty="0">
              <a:effectLst/>
              <a:latin typeface="宋体" pitchFamily="2" charset="-122"/>
              <a:ea typeface="宋体" pitchFamily="2" charset="-122"/>
            </a:endParaRPr>
          </a:p>
          <a:p>
            <a:pPr algn="l" fontAlgn="auto">
              <a:lnSpc>
                <a:spcPct val="150000"/>
              </a:lnSpc>
              <a:buClrTx/>
              <a:buSzTx/>
              <a:buNone/>
            </a:pPr>
            <a:r>
              <a:rPr lang="zh-CN" altLang="zh-CN" kern="100" dirty="0">
                <a:effectLst/>
                <a:latin typeface="宋体" pitchFamily="2" charset="-122"/>
                <a:ea typeface="宋体" pitchFamily="2" charset="-122"/>
              </a:rPr>
              <a:t>（2）患者报道</a:t>
            </a:r>
            <a:endParaRPr lang="zh-CN" altLang="zh-CN" kern="100" dirty="0">
              <a:effectLst/>
              <a:latin typeface="宋体" pitchFamily="2" charset="-122"/>
              <a:ea typeface="宋体" pitchFamily="2" charset="-122"/>
            </a:endParaRPr>
          </a:p>
          <a:p>
            <a:pPr algn="l" fontAlgn="auto">
              <a:lnSpc>
                <a:spcPct val="150000"/>
              </a:lnSpc>
              <a:buClrTx/>
              <a:buSzTx/>
              <a:buNone/>
            </a:pPr>
            <a:r>
              <a:rPr lang="zh-CN" altLang="zh-CN" kern="100" dirty="0">
                <a:effectLst/>
                <a:latin typeface="宋体" pitchFamily="2" charset="-122"/>
                <a:ea typeface="宋体" pitchFamily="2" charset="-122"/>
              </a:rPr>
              <a:t>当医护人员点击报道时，后端会自动将记录的状态改为CHECKED_IN，同时记录报道时间；若报道时间晚于预约时间，直接状态更新为IN_PROGRESS（候诊中），同时向/topic/checkin-list 和 /topic/waiting-list 两个主题发送更新通知。</a:t>
            </a:r>
            <a:endParaRPr lang="zh-CN" altLang="zh-CN" kern="100" dirty="0">
              <a:effectLst/>
              <a:latin typeface="宋体" pitchFamily="2" charset="-122"/>
              <a:ea typeface="宋体"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患者预约</a:t>
            </a:r>
            <a:r>
              <a:rPr lang="zh-CN" altLang="en-US" dirty="0"/>
              <a:t>实现</a:t>
            </a:r>
            <a:endParaRPr lang="zh-CN" altLang="en-US" dirty="0"/>
          </a:p>
        </p:txBody>
      </p:sp>
      <p:sp>
        <p:nvSpPr>
          <p:cNvPr id="5" name="文本框 4"/>
          <p:cNvSpPr txBox="1"/>
          <p:nvPr/>
        </p:nvSpPr>
        <p:spPr>
          <a:xfrm>
            <a:off x="493395" y="1228725"/>
            <a:ext cx="11294745" cy="5163820"/>
          </a:xfrm>
          <a:prstGeom prst="rect">
            <a:avLst/>
          </a:prstGeom>
          <a:noFill/>
        </p:spPr>
        <p:txBody>
          <a:bodyPr wrap="square" rtlCol="0">
            <a:noAutofit/>
          </a:bodyPr>
          <a:p>
            <a:pPr algn="l" fontAlgn="auto">
              <a:lnSpc>
                <a:spcPct val="150000"/>
              </a:lnSpc>
              <a:buClrTx/>
              <a:buSzTx/>
              <a:buNone/>
            </a:pPr>
            <a:r>
              <a:rPr lang="zh-CN" altLang="zh-CN" kern="100" dirty="0">
                <a:effectLst/>
                <a:latin typeface="宋体" pitchFamily="2" charset="-122"/>
                <a:ea typeface="宋体" pitchFamily="2" charset="-122"/>
              </a:rPr>
              <a:t>（3）定时任务发布</a:t>
            </a:r>
            <a:endParaRPr lang="zh-CN" altLang="zh-CN" kern="100" dirty="0">
              <a:effectLst/>
              <a:latin typeface="宋体" pitchFamily="2" charset="-122"/>
              <a:ea typeface="宋体" pitchFamily="2" charset="-122"/>
            </a:endParaRPr>
          </a:p>
          <a:p>
            <a:pPr indent="457200" algn="l" fontAlgn="auto">
              <a:lnSpc>
                <a:spcPct val="150000"/>
              </a:lnSpc>
              <a:buClrTx/>
              <a:buSzTx/>
              <a:buNone/>
            </a:pPr>
            <a:r>
              <a:rPr lang="zh-CN" altLang="zh-CN" kern="100" dirty="0">
                <a:effectLst/>
                <a:latin typeface="宋体" pitchFamily="2" charset="-122"/>
                <a:ea typeface="宋体" pitchFamily="2" charset="-122"/>
              </a:rPr>
              <a:t>cleanupExpiredAppointments 方法会自动将超过预约时间30分钟仍未报道的预约状态置为 EXPIRED。</a:t>
            </a:r>
            <a:endParaRPr lang="zh-CN" altLang="zh-CN" kern="100" dirty="0">
              <a:effectLst/>
              <a:latin typeface="宋体" pitchFamily="2" charset="-122"/>
              <a:ea typeface="宋体" pitchFamily="2" charset="-122"/>
            </a:endParaRPr>
          </a:p>
          <a:p>
            <a:pPr indent="457200" algn="l" fontAlgn="auto">
              <a:lnSpc>
                <a:spcPct val="150000"/>
              </a:lnSpc>
              <a:buClrTx/>
              <a:buSzTx/>
              <a:buNone/>
            </a:pPr>
            <a:r>
              <a:rPr lang="zh-CN" altLang="zh-CN" kern="100" dirty="0">
                <a:effectLst/>
                <a:latin typeface="宋体" pitchFamily="2" charset="-122"/>
                <a:ea typeface="宋体" pitchFamily="2" charset="-122"/>
              </a:rPr>
              <a:t>updateWaitingList 方法会自动将在预约时间点已到且已报道的患者状态从 CHECKED_IN 更新为 IN_PROGRESS，实现自动排队进入候诊列表的功能。</a:t>
            </a:r>
            <a:endParaRPr lang="zh-CN" altLang="zh-CN" kern="100" dirty="0">
              <a:effectLst/>
              <a:latin typeface="宋体" pitchFamily="2" charset="-122"/>
              <a:ea typeface="宋体" pitchFamily="2" charset="-122"/>
            </a:endParaRPr>
          </a:p>
          <a:p>
            <a:pPr fontAlgn="auto">
              <a:lnSpc>
                <a:spcPct val="150000"/>
              </a:lnSpc>
            </a:pP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患者预约效果图</a:t>
            </a:r>
            <a:endParaRPr lang="zh-CN" altLang="en-US" dirty="0"/>
          </a:p>
        </p:txBody>
      </p:sp>
      <p:sp>
        <p:nvSpPr>
          <p:cNvPr id="5" name="文本框 4"/>
          <p:cNvSpPr txBox="1"/>
          <p:nvPr/>
        </p:nvSpPr>
        <p:spPr>
          <a:xfrm>
            <a:off x="493395" y="897890"/>
            <a:ext cx="2200275" cy="631825"/>
          </a:xfrm>
          <a:prstGeom prst="rect">
            <a:avLst/>
          </a:prstGeom>
          <a:noFill/>
        </p:spPr>
        <p:txBody>
          <a:bodyPr wrap="square" rtlCol="0">
            <a:noAutofit/>
          </a:bodyPr>
          <a:p>
            <a:pPr fontAlgn="auto">
              <a:lnSpc>
                <a:spcPct val="150000"/>
              </a:lnSpc>
            </a:pPr>
            <a:r>
              <a:rPr lang="zh-CN" altLang="en-US"/>
              <a:t>患者预约提交表单</a:t>
            </a:r>
            <a:endParaRPr lang="zh-CN" altLang="en-US"/>
          </a:p>
          <a:p>
            <a:pPr fontAlgn="auto">
              <a:lnSpc>
                <a:spcPct val="150000"/>
              </a:lnSpc>
            </a:pPr>
            <a:endParaRPr lang="zh-CN" altLang="en-US"/>
          </a:p>
        </p:txBody>
      </p:sp>
      <p:pic>
        <p:nvPicPr>
          <p:cNvPr id="3" name="图片 2"/>
          <p:cNvPicPr>
            <a:picLocks noChangeAspect="1"/>
          </p:cNvPicPr>
          <p:nvPr>
            <p:custDataLst>
              <p:tags r:id="rId1"/>
            </p:custDataLst>
          </p:nvPr>
        </p:nvPicPr>
        <p:blipFill>
          <a:blip r:embed="rId2"/>
          <a:stretch>
            <a:fillRect/>
          </a:stretch>
        </p:blipFill>
        <p:spPr>
          <a:xfrm>
            <a:off x="554355" y="1624965"/>
            <a:ext cx="9531350" cy="452310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患者预约效果图</a:t>
            </a:r>
            <a:endParaRPr lang="zh-CN" altLang="en-US" dirty="0"/>
          </a:p>
        </p:txBody>
      </p:sp>
      <p:sp>
        <p:nvSpPr>
          <p:cNvPr id="5" name="文本框 4"/>
          <p:cNvSpPr txBox="1"/>
          <p:nvPr/>
        </p:nvSpPr>
        <p:spPr>
          <a:xfrm>
            <a:off x="493395" y="897890"/>
            <a:ext cx="2200275" cy="631825"/>
          </a:xfrm>
          <a:prstGeom prst="rect">
            <a:avLst/>
          </a:prstGeom>
          <a:noFill/>
        </p:spPr>
        <p:txBody>
          <a:bodyPr wrap="square" rtlCol="0">
            <a:noAutofit/>
          </a:bodyPr>
          <a:p>
            <a:pPr fontAlgn="auto">
              <a:lnSpc>
                <a:spcPct val="150000"/>
              </a:lnSpc>
            </a:pPr>
            <a:r>
              <a:rPr lang="zh-CN" altLang="en-US"/>
              <a:t>我的预约</a:t>
            </a:r>
            <a:r>
              <a:rPr lang="zh-CN" altLang="en-US"/>
              <a:t>清单</a:t>
            </a:r>
            <a:endParaRPr lang="zh-CN" altLang="en-US"/>
          </a:p>
          <a:p>
            <a:pPr fontAlgn="auto">
              <a:lnSpc>
                <a:spcPct val="150000"/>
              </a:lnSpc>
            </a:pPr>
            <a:endParaRPr lang="zh-CN" altLang="en-US"/>
          </a:p>
        </p:txBody>
      </p:sp>
      <p:pic>
        <p:nvPicPr>
          <p:cNvPr id="4" name="图片 3"/>
          <p:cNvPicPr>
            <a:picLocks noChangeAspect="1"/>
          </p:cNvPicPr>
          <p:nvPr>
            <p:custDataLst>
              <p:tags r:id="rId1"/>
            </p:custDataLst>
          </p:nvPr>
        </p:nvPicPr>
        <p:blipFill>
          <a:blip r:embed="rId2"/>
          <a:stretch>
            <a:fillRect/>
          </a:stretch>
        </p:blipFill>
        <p:spPr>
          <a:xfrm>
            <a:off x="508000" y="1529715"/>
            <a:ext cx="10416540" cy="50069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患者预约效果图</a:t>
            </a:r>
            <a:endParaRPr lang="zh-CN" altLang="en-US" dirty="0"/>
          </a:p>
        </p:txBody>
      </p:sp>
      <p:sp>
        <p:nvSpPr>
          <p:cNvPr id="5" name="文本框 4"/>
          <p:cNvSpPr txBox="1"/>
          <p:nvPr/>
        </p:nvSpPr>
        <p:spPr>
          <a:xfrm>
            <a:off x="493395" y="897890"/>
            <a:ext cx="2200275" cy="631825"/>
          </a:xfrm>
          <a:prstGeom prst="rect">
            <a:avLst/>
          </a:prstGeom>
          <a:noFill/>
        </p:spPr>
        <p:txBody>
          <a:bodyPr wrap="square" rtlCol="0">
            <a:noAutofit/>
          </a:bodyPr>
          <a:p>
            <a:pPr fontAlgn="auto">
              <a:lnSpc>
                <a:spcPct val="150000"/>
              </a:lnSpc>
            </a:pPr>
            <a:r>
              <a:rPr lang="zh-CN" altLang="en-US"/>
              <a:t>报道</a:t>
            </a:r>
            <a:r>
              <a:rPr lang="zh-CN" altLang="en-US"/>
              <a:t>列表</a:t>
            </a:r>
            <a:endParaRPr lang="zh-CN" altLang="en-US"/>
          </a:p>
          <a:p>
            <a:pPr fontAlgn="auto">
              <a:lnSpc>
                <a:spcPct val="150000"/>
              </a:lnSpc>
            </a:pPr>
            <a:endParaRPr lang="zh-CN" altLang="en-US"/>
          </a:p>
        </p:txBody>
      </p:sp>
      <p:pic>
        <p:nvPicPr>
          <p:cNvPr id="3" name="图片 2"/>
          <p:cNvPicPr>
            <a:picLocks noChangeAspect="1"/>
          </p:cNvPicPr>
          <p:nvPr>
            <p:custDataLst>
              <p:tags r:id="rId1"/>
            </p:custDataLst>
          </p:nvPr>
        </p:nvPicPr>
        <p:blipFill>
          <a:blip r:embed="rId2"/>
          <a:stretch>
            <a:fillRect/>
          </a:stretch>
        </p:blipFill>
        <p:spPr>
          <a:xfrm>
            <a:off x="681355" y="1624330"/>
            <a:ext cx="9580880" cy="49606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患者预约效果图</a:t>
            </a:r>
            <a:endParaRPr lang="zh-CN" altLang="en-US" dirty="0"/>
          </a:p>
        </p:txBody>
      </p:sp>
      <p:sp>
        <p:nvSpPr>
          <p:cNvPr id="5" name="文本框 4"/>
          <p:cNvSpPr txBox="1"/>
          <p:nvPr/>
        </p:nvSpPr>
        <p:spPr>
          <a:xfrm>
            <a:off x="493395" y="897890"/>
            <a:ext cx="2200275" cy="631825"/>
          </a:xfrm>
          <a:prstGeom prst="rect">
            <a:avLst/>
          </a:prstGeom>
          <a:noFill/>
        </p:spPr>
        <p:txBody>
          <a:bodyPr wrap="square" rtlCol="0">
            <a:noAutofit/>
          </a:bodyPr>
          <a:p>
            <a:pPr fontAlgn="auto">
              <a:lnSpc>
                <a:spcPct val="150000"/>
              </a:lnSpc>
            </a:pPr>
            <a:r>
              <a:rPr lang="zh-CN" altLang="en-US"/>
              <a:t>候诊</a:t>
            </a:r>
            <a:r>
              <a:rPr lang="zh-CN" altLang="en-US"/>
              <a:t>列表</a:t>
            </a:r>
            <a:endParaRPr lang="zh-CN" altLang="en-US"/>
          </a:p>
          <a:p>
            <a:pPr fontAlgn="auto">
              <a:lnSpc>
                <a:spcPct val="150000"/>
              </a:lnSpc>
            </a:pPr>
            <a:endParaRPr lang="zh-CN" altLang="en-US"/>
          </a:p>
        </p:txBody>
      </p:sp>
      <p:pic>
        <p:nvPicPr>
          <p:cNvPr id="4" name="图片 3"/>
          <p:cNvPicPr>
            <a:picLocks noChangeAspect="1"/>
          </p:cNvPicPr>
          <p:nvPr>
            <p:custDataLst>
              <p:tags r:id="rId1"/>
            </p:custDataLst>
          </p:nvPr>
        </p:nvPicPr>
        <p:blipFill>
          <a:blip r:embed="rId2"/>
          <a:stretch>
            <a:fillRect/>
          </a:stretch>
        </p:blipFill>
        <p:spPr>
          <a:xfrm>
            <a:off x="493395" y="1529715"/>
            <a:ext cx="9772015" cy="486346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影像管理</a:t>
            </a:r>
            <a:r>
              <a:rPr lang="zh-CN" altLang="en-US" dirty="0"/>
              <a:t>实现</a:t>
            </a:r>
            <a:endParaRPr lang="zh-CN" altLang="en-US" dirty="0"/>
          </a:p>
        </p:txBody>
      </p:sp>
      <p:sp>
        <p:nvSpPr>
          <p:cNvPr id="5" name="文本框 4"/>
          <p:cNvSpPr txBox="1"/>
          <p:nvPr/>
        </p:nvSpPr>
        <p:spPr>
          <a:xfrm>
            <a:off x="478790" y="1228725"/>
            <a:ext cx="11294745" cy="5163820"/>
          </a:xfrm>
          <a:prstGeom prst="rect">
            <a:avLst/>
          </a:prstGeom>
          <a:noFill/>
        </p:spPr>
        <p:txBody>
          <a:bodyPr wrap="square" rtlCol="0">
            <a:noAutofit/>
          </a:bodyPr>
          <a:p>
            <a:pPr algn="l" fontAlgn="auto">
              <a:lnSpc>
                <a:spcPct val="150000"/>
              </a:lnSpc>
              <a:buClrTx/>
              <a:buSzTx/>
              <a:buNone/>
            </a:pPr>
            <a:r>
              <a:rPr lang="zh-CN" altLang="zh-CN" b="1" kern="100" dirty="0">
                <a:effectLst/>
                <a:latin typeface="宋体" pitchFamily="2" charset="-122"/>
                <a:ea typeface="宋体" pitchFamily="2" charset="-122"/>
              </a:rPr>
              <a:t>上传影像功能（通过表单提交来实现）：</a:t>
            </a:r>
            <a:endParaRPr lang="zh-CN" altLang="zh-CN" b="1" kern="100" dirty="0">
              <a:effectLst/>
              <a:latin typeface="宋体" pitchFamily="2" charset="-122"/>
              <a:ea typeface="宋体" pitchFamily="2" charset="-122"/>
            </a:endParaRPr>
          </a:p>
          <a:p>
            <a:pPr algn="l" fontAlgn="auto">
              <a:lnSpc>
                <a:spcPct val="150000"/>
              </a:lnSpc>
              <a:buClrTx/>
              <a:buSzTx/>
              <a:buNone/>
            </a:pPr>
            <a:r>
              <a:rPr lang="zh-CN" altLang="zh-CN" kern="100" dirty="0">
                <a:effectLst/>
                <a:latin typeface="宋体" pitchFamily="2" charset="-122"/>
                <a:ea typeface="宋体" pitchFamily="2" charset="-122"/>
              </a:rPr>
              <a:t>（1）上传者提交影像的姓名与身份证号信息，系统根据存储的用户信息进行验证。</a:t>
            </a:r>
            <a:endParaRPr lang="zh-CN" altLang="zh-CN" kern="100" dirty="0">
              <a:effectLst/>
              <a:latin typeface="宋体" pitchFamily="2" charset="-122"/>
              <a:ea typeface="宋体" pitchFamily="2" charset="-122"/>
            </a:endParaRPr>
          </a:p>
          <a:p>
            <a:pPr algn="l" fontAlgn="auto">
              <a:lnSpc>
                <a:spcPct val="150000"/>
              </a:lnSpc>
              <a:buClrTx/>
              <a:buSzTx/>
              <a:buNone/>
            </a:pPr>
            <a:r>
              <a:rPr lang="zh-CN" altLang="zh-CN" kern="100" dirty="0">
                <a:effectLst/>
                <a:latin typeface="宋体" pitchFamily="2" charset="-122"/>
                <a:ea typeface="宋体" pitchFamily="2" charset="-122"/>
              </a:rPr>
              <a:t>（</a:t>
            </a:r>
            <a:r>
              <a:rPr lang="en-US" altLang="zh-CN" kern="100" dirty="0">
                <a:effectLst/>
                <a:latin typeface="宋体" pitchFamily="2" charset="-122"/>
                <a:ea typeface="宋体" pitchFamily="2" charset="-122"/>
              </a:rPr>
              <a:t>2</a:t>
            </a:r>
            <a:r>
              <a:rPr lang="zh-CN" altLang="zh-CN" kern="100" dirty="0">
                <a:effectLst/>
                <a:latin typeface="宋体" pitchFamily="2" charset="-122"/>
                <a:ea typeface="宋体" pitchFamily="2" charset="-122"/>
              </a:rPr>
              <a:t>）上传者填写影像标签等信息，同时将个人的影像上传到表单</a:t>
            </a:r>
            <a:r>
              <a:rPr lang="zh-CN" altLang="zh-CN" kern="100" dirty="0">
                <a:effectLst/>
                <a:latin typeface="宋体" pitchFamily="2" charset="-122"/>
                <a:ea typeface="宋体" pitchFamily="2" charset="-122"/>
              </a:rPr>
              <a:t>中。</a:t>
            </a:r>
            <a:endParaRPr lang="zh-CN" altLang="zh-CN" kern="100" dirty="0">
              <a:effectLst/>
              <a:latin typeface="宋体" pitchFamily="2" charset="-122"/>
              <a:ea typeface="宋体" pitchFamily="2" charset="-122"/>
            </a:endParaRPr>
          </a:p>
          <a:p>
            <a:pPr algn="l" fontAlgn="auto">
              <a:lnSpc>
                <a:spcPct val="150000"/>
              </a:lnSpc>
              <a:buClrTx/>
              <a:buSzTx/>
              <a:buNone/>
            </a:pPr>
            <a:r>
              <a:rPr lang="zh-CN" altLang="zh-CN" kern="100" dirty="0">
                <a:effectLst/>
                <a:latin typeface="宋体" pitchFamily="2" charset="-122"/>
                <a:ea typeface="宋体" pitchFamily="2" charset="-122"/>
              </a:rPr>
              <a:t>（</a:t>
            </a:r>
            <a:r>
              <a:rPr lang="en-US" altLang="zh-CN" kern="100" dirty="0">
                <a:effectLst/>
                <a:latin typeface="宋体" pitchFamily="2" charset="-122"/>
                <a:ea typeface="宋体" pitchFamily="2" charset="-122"/>
              </a:rPr>
              <a:t>3</a:t>
            </a:r>
            <a:r>
              <a:rPr lang="zh-CN" altLang="zh-CN" kern="100" dirty="0">
                <a:effectLst/>
                <a:latin typeface="宋体" pitchFamily="2" charset="-122"/>
                <a:ea typeface="宋体" pitchFamily="2" charset="-122"/>
              </a:rPr>
              <a:t>）提交订单中，影像存放在服务器本机上，同时将地址存放在数据库</a:t>
            </a:r>
            <a:r>
              <a:rPr lang="zh-CN" altLang="zh-CN" kern="100" dirty="0">
                <a:effectLst/>
                <a:latin typeface="宋体" pitchFamily="2" charset="-122"/>
                <a:ea typeface="宋体" pitchFamily="2" charset="-122"/>
              </a:rPr>
              <a:t>中。</a:t>
            </a:r>
            <a:endParaRPr lang="zh-CN" altLang="zh-CN" kern="100" dirty="0">
              <a:effectLst/>
              <a:latin typeface="宋体" pitchFamily="2" charset="-122"/>
              <a:ea typeface="宋体" pitchFamily="2" charset="-122"/>
            </a:endParaRPr>
          </a:p>
          <a:p>
            <a:pPr algn="l" fontAlgn="auto">
              <a:lnSpc>
                <a:spcPct val="150000"/>
              </a:lnSpc>
              <a:buClrTx/>
              <a:buSzTx/>
              <a:buNone/>
            </a:pPr>
            <a:r>
              <a:rPr lang="zh-CN" altLang="zh-CN" b="1" kern="100" dirty="0">
                <a:effectLst/>
                <a:latin typeface="宋体" pitchFamily="2" charset="-122"/>
                <a:ea typeface="宋体" pitchFamily="2" charset="-122"/>
              </a:rPr>
              <a:t>检索系统影像</a:t>
            </a:r>
            <a:r>
              <a:rPr lang="zh-CN" altLang="zh-CN" b="1" kern="100" dirty="0">
                <a:effectLst/>
                <a:latin typeface="宋体" pitchFamily="2" charset="-122"/>
                <a:ea typeface="宋体" pitchFamily="2" charset="-122"/>
              </a:rPr>
              <a:t>功能实现：</a:t>
            </a:r>
            <a:endParaRPr lang="zh-CN" altLang="zh-CN" b="1" kern="100" dirty="0">
              <a:effectLst/>
              <a:latin typeface="宋体" pitchFamily="2" charset="-122"/>
              <a:ea typeface="宋体" pitchFamily="2" charset="-122"/>
            </a:endParaRPr>
          </a:p>
          <a:p>
            <a:pPr algn="l" fontAlgn="auto">
              <a:lnSpc>
                <a:spcPct val="150000"/>
              </a:lnSpc>
              <a:buClrTx/>
              <a:buSzTx/>
              <a:buNone/>
            </a:pPr>
            <a:r>
              <a:rPr lang="en-US" altLang="zh-CN" kern="100" dirty="0">
                <a:effectLst/>
                <a:latin typeface="宋体" pitchFamily="2" charset="-122"/>
                <a:ea typeface="宋体" pitchFamily="2" charset="-122"/>
              </a:rPr>
              <a:t>        </a:t>
            </a:r>
            <a:r>
              <a:rPr lang="zh-CN" altLang="zh-CN" kern="100" dirty="0">
                <a:effectLst/>
                <a:latin typeface="宋体" pitchFamily="2" charset="-122"/>
                <a:ea typeface="宋体" pitchFamily="2" charset="-122"/>
              </a:rPr>
              <a:t>医护人员：支持使用患者姓名、上传者姓名、患者身份证以及影像时间或影像标签对系统内影像进行</a:t>
            </a:r>
            <a:r>
              <a:rPr lang="zh-CN" altLang="zh-CN" kern="100" dirty="0">
                <a:effectLst/>
                <a:latin typeface="宋体" pitchFamily="2" charset="-122"/>
                <a:ea typeface="宋体" pitchFamily="2" charset="-122"/>
              </a:rPr>
              <a:t>查询。</a:t>
            </a:r>
            <a:endParaRPr lang="zh-CN" altLang="zh-CN" kern="100" dirty="0">
              <a:effectLst/>
              <a:latin typeface="宋体" pitchFamily="2" charset="-122"/>
              <a:ea typeface="宋体" pitchFamily="2" charset="-122"/>
            </a:endParaRPr>
          </a:p>
          <a:p>
            <a:pPr indent="457200" algn="l" fontAlgn="auto">
              <a:lnSpc>
                <a:spcPct val="150000"/>
              </a:lnSpc>
              <a:buClrTx/>
              <a:buSzTx/>
              <a:buNone/>
            </a:pPr>
            <a:r>
              <a:rPr lang="zh-CN" altLang="zh-CN" kern="100" dirty="0">
                <a:effectLst/>
                <a:latin typeface="宋体" pitchFamily="2" charset="-122"/>
                <a:ea typeface="宋体" pitchFamily="2" charset="-122"/>
              </a:rPr>
              <a:t>患者：根据登陆后储存在浏览器中的</a:t>
            </a:r>
            <a:r>
              <a:rPr lang="en-US" altLang="zh-CN" kern="100" dirty="0">
                <a:effectLst/>
                <a:latin typeface="宋体" pitchFamily="2" charset="-122"/>
                <a:ea typeface="宋体" pitchFamily="2" charset="-122"/>
              </a:rPr>
              <a:t>token</a:t>
            </a:r>
            <a:r>
              <a:rPr lang="zh-CN" altLang="en-US" kern="100" dirty="0">
                <a:effectLst/>
                <a:latin typeface="宋体" pitchFamily="2" charset="-122"/>
                <a:ea typeface="宋体" pitchFamily="2" charset="-122"/>
              </a:rPr>
              <a:t>，提取到患者的</a:t>
            </a:r>
            <a:r>
              <a:rPr lang="en-US" altLang="zh-CN" kern="100" dirty="0">
                <a:effectLst/>
                <a:latin typeface="宋体" pitchFamily="2" charset="-122"/>
                <a:ea typeface="宋体" pitchFamily="2" charset="-122"/>
              </a:rPr>
              <a:t>id</a:t>
            </a:r>
            <a:r>
              <a:rPr lang="zh-CN" altLang="en-US" kern="100" dirty="0">
                <a:effectLst/>
                <a:latin typeface="宋体" pitchFamily="2" charset="-122"/>
                <a:ea typeface="宋体" pitchFamily="2" charset="-122"/>
              </a:rPr>
              <a:t>编号，使用</a:t>
            </a:r>
            <a:r>
              <a:rPr lang="en-US" altLang="zh-CN" kern="100" dirty="0">
                <a:effectLst/>
                <a:latin typeface="宋体" pitchFamily="2" charset="-122"/>
                <a:ea typeface="宋体" pitchFamily="2" charset="-122"/>
              </a:rPr>
              <a:t>id</a:t>
            </a:r>
            <a:r>
              <a:rPr lang="zh-CN" altLang="en-US" kern="100" dirty="0">
                <a:effectLst/>
                <a:latin typeface="宋体" pitchFamily="2" charset="-122"/>
                <a:ea typeface="宋体" pitchFamily="2" charset="-122"/>
              </a:rPr>
              <a:t>编号获取到患者的所有影像。</a:t>
            </a:r>
            <a:endParaRPr lang="zh-CN" altLang="zh-CN" kern="100" dirty="0">
              <a:effectLst/>
              <a:latin typeface="宋体" pitchFamily="2" charset="-122"/>
              <a:ea typeface="宋体" pitchFamily="2" charset="-122"/>
            </a:endParaRPr>
          </a:p>
          <a:p>
            <a:pPr algn="l" fontAlgn="auto">
              <a:lnSpc>
                <a:spcPct val="150000"/>
              </a:lnSpc>
              <a:buClrTx/>
              <a:buSzTx/>
              <a:buNone/>
            </a:pPr>
            <a:r>
              <a:rPr lang="zh-CN" altLang="zh-CN" b="1" kern="100" dirty="0">
                <a:effectLst/>
                <a:latin typeface="宋体" pitchFamily="2" charset="-122"/>
                <a:ea typeface="宋体" pitchFamily="2" charset="-122"/>
              </a:rPr>
              <a:t>查看影像：</a:t>
            </a:r>
            <a:endParaRPr lang="zh-CN" altLang="zh-CN" b="1" kern="100" dirty="0">
              <a:effectLst/>
              <a:latin typeface="宋体" pitchFamily="2" charset="-122"/>
              <a:ea typeface="宋体" pitchFamily="2" charset="-122"/>
            </a:endParaRPr>
          </a:p>
          <a:p>
            <a:pPr indent="457200" algn="l" fontAlgn="auto">
              <a:lnSpc>
                <a:spcPct val="150000"/>
              </a:lnSpc>
              <a:buClrTx/>
              <a:buSzTx/>
              <a:buNone/>
            </a:pPr>
            <a:r>
              <a:rPr lang="zh-CN" altLang="zh-CN" kern="100" dirty="0">
                <a:effectLst/>
                <a:latin typeface="宋体" pitchFamily="2" charset="-122"/>
                <a:ea typeface="宋体" pitchFamily="2" charset="-122"/>
              </a:rPr>
              <a:t>通过从数据库中获取到影像存放的地址。然后将影像地址返回到前端，前端通过地址在网页中放大显示具体影像</a:t>
            </a:r>
            <a:r>
              <a:rPr lang="zh-CN" altLang="zh-CN" kern="100" dirty="0">
                <a:effectLst/>
                <a:latin typeface="宋体" pitchFamily="2" charset="-122"/>
                <a:ea typeface="宋体" pitchFamily="2" charset="-122"/>
              </a:rPr>
              <a:t>图片。</a:t>
            </a:r>
            <a:endParaRPr lang="zh-CN" altLang="zh-CN" kern="100" dirty="0">
              <a:effectLst/>
              <a:latin typeface="宋体" pitchFamily="2" charset="-122"/>
              <a:ea typeface="宋体" pitchFamily="2" charset="-122"/>
            </a:endParaRPr>
          </a:p>
          <a:p>
            <a:pPr indent="0" algn="l" fontAlgn="auto">
              <a:lnSpc>
                <a:spcPct val="150000"/>
              </a:lnSpc>
              <a:buClrTx/>
              <a:buSzTx/>
              <a:buNone/>
            </a:pPr>
            <a:r>
              <a:rPr lang="zh-CN" altLang="zh-CN" b="1" kern="100" dirty="0">
                <a:effectLst/>
                <a:latin typeface="宋体" pitchFamily="2" charset="-122"/>
                <a:ea typeface="宋体" pitchFamily="2" charset="-122"/>
              </a:rPr>
              <a:t>删除影像：</a:t>
            </a:r>
            <a:endParaRPr lang="zh-CN" altLang="zh-CN" b="1" kern="100" dirty="0">
              <a:effectLst/>
              <a:latin typeface="宋体" pitchFamily="2" charset="-122"/>
              <a:ea typeface="宋体" pitchFamily="2" charset="-122"/>
            </a:endParaRPr>
          </a:p>
          <a:p>
            <a:pPr indent="457200" algn="l" fontAlgn="auto">
              <a:lnSpc>
                <a:spcPct val="150000"/>
              </a:lnSpc>
              <a:buClrTx/>
              <a:buSzTx/>
              <a:buNone/>
            </a:pPr>
            <a:r>
              <a:rPr lang="zh-CN" altLang="zh-CN" kern="100" dirty="0">
                <a:effectLst/>
                <a:latin typeface="宋体" pitchFamily="2" charset="-122"/>
                <a:ea typeface="宋体" pitchFamily="2" charset="-122"/>
              </a:rPr>
              <a:t>通过向后端传递影像</a:t>
            </a:r>
            <a:r>
              <a:rPr lang="en-US" altLang="zh-CN" kern="100" dirty="0">
                <a:effectLst/>
                <a:latin typeface="宋体" pitchFamily="2" charset="-122"/>
                <a:ea typeface="宋体" pitchFamily="2" charset="-122"/>
              </a:rPr>
              <a:t>id</a:t>
            </a:r>
            <a:r>
              <a:rPr lang="zh-CN" altLang="en-US" kern="100" dirty="0">
                <a:effectLst/>
                <a:latin typeface="宋体" pitchFamily="2" charset="-122"/>
                <a:ea typeface="宋体" pitchFamily="2" charset="-122"/>
              </a:rPr>
              <a:t>，直接在数据库中删除</a:t>
            </a:r>
            <a:r>
              <a:rPr lang="zh-CN" altLang="en-US" kern="100" dirty="0">
                <a:effectLst/>
                <a:latin typeface="宋体" pitchFamily="2" charset="-122"/>
                <a:ea typeface="宋体" pitchFamily="2" charset="-122"/>
              </a:rPr>
              <a:t>该条影像</a:t>
            </a:r>
            <a:r>
              <a:rPr lang="zh-CN" altLang="en-US" kern="100" dirty="0">
                <a:effectLst/>
                <a:latin typeface="宋体" pitchFamily="2" charset="-122"/>
                <a:ea typeface="宋体" pitchFamily="2" charset="-122"/>
              </a:rPr>
              <a:t>信息。</a:t>
            </a:r>
            <a:endParaRPr lang="zh-CN" altLang="en-US" kern="100" dirty="0">
              <a:effectLst/>
              <a:latin typeface="宋体" pitchFamily="2" charset="-122"/>
              <a:ea typeface="宋体"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上传影像功能</a:t>
            </a:r>
            <a:r>
              <a:rPr lang="zh-CN" altLang="en-US" dirty="0"/>
              <a:t>效果图</a:t>
            </a:r>
            <a:endParaRPr lang="zh-CN" altLang="en-US" dirty="0"/>
          </a:p>
        </p:txBody>
      </p:sp>
      <p:pic>
        <p:nvPicPr>
          <p:cNvPr id="3" name="图片 2"/>
          <p:cNvPicPr>
            <a:picLocks noChangeAspect="1"/>
          </p:cNvPicPr>
          <p:nvPr>
            <p:custDataLst>
              <p:tags r:id="rId1"/>
            </p:custDataLst>
          </p:nvPr>
        </p:nvPicPr>
        <p:blipFill>
          <a:blip r:embed="rId2"/>
          <a:stretch>
            <a:fillRect/>
          </a:stretch>
        </p:blipFill>
        <p:spPr>
          <a:xfrm>
            <a:off x="508000" y="1727835"/>
            <a:ext cx="8601075" cy="4464050"/>
          </a:xfrm>
          <a:prstGeom prst="rect">
            <a:avLst/>
          </a:prstGeom>
        </p:spPr>
      </p:pic>
      <p:sp>
        <p:nvSpPr>
          <p:cNvPr id="4" name="文本框 3"/>
          <p:cNvSpPr txBox="1"/>
          <p:nvPr>
            <p:custDataLst>
              <p:tags r:id="rId3"/>
            </p:custDataLst>
          </p:nvPr>
        </p:nvSpPr>
        <p:spPr>
          <a:xfrm>
            <a:off x="508000" y="1081405"/>
            <a:ext cx="6096000" cy="368300"/>
          </a:xfrm>
          <a:prstGeom prst="rect">
            <a:avLst/>
          </a:prstGeom>
          <a:noFill/>
        </p:spPr>
        <p:txBody>
          <a:bodyPr wrap="square" rtlCol="0" anchor="t">
            <a:spAutoFit/>
          </a:bodyPr>
          <a:p>
            <a:r>
              <a:rPr lang="zh-CN" altLang="en-US"/>
              <a:t>医疗影像上传</a:t>
            </a:r>
            <a:r>
              <a:rPr lang="zh-CN" altLang="en-US"/>
              <a:t>表单</a:t>
            </a: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影像管理效果</a:t>
            </a:r>
            <a:r>
              <a:rPr lang="zh-CN" altLang="en-US" dirty="0"/>
              <a:t>图</a:t>
            </a:r>
            <a:endParaRPr lang="zh-CN" altLang="en-US" dirty="0"/>
          </a:p>
        </p:txBody>
      </p:sp>
      <p:pic>
        <p:nvPicPr>
          <p:cNvPr id="3" name="图片 2"/>
          <p:cNvPicPr>
            <a:picLocks noChangeAspect="1"/>
          </p:cNvPicPr>
          <p:nvPr>
            <p:custDataLst>
              <p:tags r:id="rId1"/>
            </p:custDataLst>
          </p:nvPr>
        </p:nvPicPr>
        <p:blipFill>
          <a:blip r:embed="rId2"/>
          <a:stretch>
            <a:fillRect/>
          </a:stretch>
        </p:blipFill>
        <p:spPr>
          <a:xfrm>
            <a:off x="377190" y="1551305"/>
            <a:ext cx="9665335" cy="5000625"/>
          </a:xfrm>
          <a:prstGeom prst="rect">
            <a:avLst/>
          </a:prstGeom>
        </p:spPr>
      </p:pic>
      <p:sp>
        <p:nvSpPr>
          <p:cNvPr id="6" name="文本框 5"/>
          <p:cNvSpPr txBox="1"/>
          <p:nvPr/>
        </p:nvSpPr>
        <p:spPr>
          <a:xfrm>
            <a:off x="377190" y="993140"/>
            <a:ext cx="4064000" cy="368300"/>
          </a:xfrm>
          <a:prstGeom prst="rect">
            <a:avLst/>
          </a:prstGeom>
          <a:noFill/>
        </p:spPr>
        <p:txBody>
          <a:bodyPr wrap="square" rtlCol="0">
            <a:spAutoFit/>
          </a:bodyPr>
          <a:p>
            <a:r>
              <a:rPr lang="zh-CN" altLang="en-US"/>
              <a:t>医疗影像</a:t>
            </a:r>
            <a:r>
              <a:rPr lang="zh-CN" altLang="en-US"/>
              <a:t>检索</a:t>
            </a: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报告管理</a:t>
            </a:r>
            <a:r>
              <a:rPr lang="zh-CN" altLang="en-US" dirty="0"/>
              <a:t>实现</a:t>
            </a:r>
            <a:endParaRPr lang="zh-CN" altLang="en-US" dirty="0"/>
          </a:p>
        </p:txBody>
      </p:sp>
      <p:sp>
        <p:nvSpPr>
          <p:cNvPr id="5" name="文本框 4"/>
          <p:cNvSpPr txBox="1"/>
          <p:nvPr/>
        </p:nvSpPr>
        <p:spPr>
          <a:xfrm>
            <a:off x="478790" y="1228725"/>
            <a:ext cx="11294745" cy="5163820"/>
          </a:xfrm>
          <a:prstGeom prst="rect">
            <a:avLst/>
          </a:prstGeom>
          <a:noFill/>
        </p:spPr>
        <p:txBody>
          <a:bodyPr wrap="square" rtlCol="0">
            <a:noAutofit/>
          </a:bodyPr>
          <a:p>
            <a:pPr algn="l" fontAlgn="auto">
              <a:lnSpc>
                <a:spcPct val="150000"/>
              </a:lnSpc>
              <a:buClrTx/>
              <a:buSzTx/>
              <a:buNone/>
            </a:pPr>
            <a:r>
              <a:rPr lang="zh-CN" altLang="en-US" b="1" kern="100" dirty="0">
                <a:effectLst/>
                <a:latin typeface="宋体" pitchFamily="2" charset="-122"/>
                <a:ea typeface="宋体" pitchFamily="2" charset="-122"/>
              </a:rPr>
              <a:t>报告的创建：</a:t>
            </a:r>
            <a:endParaRPr lang="zh-CN" altLang="en-US" b="1" kern="100" dirty="0">
              <a:effectLst/>
              <a:latin typeface="宋体" pitchFamily="2" charset="-122"/>
              <a:ea typeface="宋体" pitchFamily="2" charset="-122"/>
            </a:endParaRPr>
          </a:p>
          <a:p>
            <a:pPr algn="l" fontAlgn="auto">
              <a:lnSpc>
                <a:spcPct val="150000"/>
              </a:lnSpc>
              <a:buClrTx/>
              <a:buSzTx/>
              <a:buNone/>
            </a:pPr>
            <a:r>
              <a:rPr lang="zh-CN" altLang="en-US" kern="100" dirty="0">
                <a:effectLst/>
                <a:latin typeface="宋体" pitchFamily="2" charset="-122"/>
                <a:ea typeface="宋体" pitchFamily="2" charset="-122"/>
              </a:rPr>
              <a:t>（</a:t>
            </a:r>
            <a:r>
              <a:rPr lang="en-US" altLang="zh-CN" kern="100" dirty="0">
                <a:effectLst/>
                <a:latin typeface="宋体" pitchFamily="2" charset="-122"/>
                <a:ea typeface="宋体" pitchFamily="2" charset="-122"/>
              </a:rPr>
              <a:t>1</a:t>
            </a:r>
            <a:r>
              <a:rPr lang="zh-CN" altLang="en-US" kern="100" dirty="0">
                <a:effectLst/>
                <a:latin typeface="宋体" pitchFamily="2" charset="-122"/>
                <a:ea typeface="宋体" pitchFamily="2" charset="-122"/>
              </a:rPr>
              <a:t>）医护人员在系统中首先输入条件搜索到需要创建报告的影像，查询结果显示在</a:t>
            </a:r>
            <a:r>
              <a:rPr lang="en-US" altLang="zh-CN" kern="100" dirty="0">
                <a:effectLst/>
                <a:latin typeface="宋体" pitchFamily="2" charset="-122"/>
                <a:ea typeface="宋体" pitchFamily="2" charset="-122"/>
              </a:rPr>
              <a:t>el-table</a:t>
            </a:r>
            <a:r>
              <a:rPr lang="zh-CN" altLang="en-US" kern="100" dirty="0">
                <a:effectLst/>
                <a:latin typeface="宋体" pitchFamily="2" charset="-122"/>
                <a:ea typeface="宋体" pitchFamily="2" charset="-122"/>
              </a:rPr>
              <a:t>组件</a:t>
            </a:r>
            <a:r>
              <a:rPr lang="zh-CN" altLang="en-US" kern="100" dirty="0">
                <a:effectLst/>
                <a:latin typeface="宋体" pitchFamily="2" charset="-122"/>
                <a:ea typeface="宋体" pitchFamily="2" charset="-122"/>
              </a:rPr>
              <a:t>中。</a:t>
            </a:r>
            <a:endParaRPr lang="zh-CN" altLang="en-US" kern="100" dirty="0">
              <a:effectLst/>
              <a:latin typeface="宋体" pitchFamily="2" charset="-122"/>
              <a:ea typeface="宋体" pitchFamily="2" charset="-122"/>
            </a:endParaRPr>
          </a:p>
          <a:p>
            <a:pPr algn="l" fontAlgn="auto">
              <a:lnSpc>
                <a:spcPct val="150000"/>
              </a:lnSpc>
              <a:buClrTx/>
              <a:buSzTx/>
              <a:buNone/>
            </a:pPr>
            <a:r>
              <a:rPr lang="zh-CN" altLang="en-US" kern="100" dirty="0">
                <a:effectLst/>
                <a:latin typeface="宋体" pitchFamily="2" charset="-122"/>
                <a:ea typeface="宋体" pitchFamily="2" charset="-122"/>
              </a:rPr>
              <a:t>（</a:t>
            </a:r>
            <a:r>
              <a:rPr lang="en-US" altLang="zh-CN" kern="100" dirty="0">
                <a:effectLst/>
                <a:latin typeface="宋体" pitchFamily="2" charset="-122"/>
                <a:ea typeface="宋体" pitchFamily="2" charset="-122"/>
              </a:rPr>
              <a:t>2</a:t>
            </a:r>
            <a:r>
              <a:rPr lang="zh-CN" altLang="en-US" kern="100" dirty="0">
                <a:effectLst/>
                <a:latin typeface="宋体" pitchFamily="2" charset="-122"/>
                <a:ea typeface="宋体" pitchFamily="2" charset="-122"/>
              </a:rPr>
              <a:t>）选中</a:t>
            </a:r>
            <a:r>
              <a:rPr lang="en-US" altLang="zh-CN" kern="100" dirty="0">
                <a:effectLst/>
                <a:latin typeface="宋体" pitchFamily="2" charset="-122"/>
                <a:ea typeface="宋体" pitchFamily="2" charset="-122"/>
              </a:rPr>
              <a:t>el-table</a:t>
            </a:r>
            <a:r>
              <a:rPr lang="zh-CN" altLang="en-US" kern="100" dirty="0">
                <a:effectLst/>
                <a:latin typeface="宋体" pitchFamily="2" charset="-122"/>
                <a:ea typeface="宋体" pitchFamily="2" charset="-122"/>
              </a:rPr>
              <a:t>组件中的一张影像后触发事件将该</a:t>
            </a:r>
            <a:r>
              <a:rPr lang="zh-CN" altLang="en-US" kern="100" dirty="0">
                <a:effectLst/>
                <a:latin typeface="宋体" pitchFamily="2" charset="-122"/>
                <a:ea typeface="宋体" pitchFamily="2" charset="-122"/>
              </a:rPr>
              <a:t>影像信息进行存储。</a:t>
            </a:r>
            <a:endParaRPr lang="zh-CN" altLang="en-US" kern="100" dirty="0">
              <a:effectLst/>
              <a:latin typeface="宋体" pitchFamily="2" charset="-122"/>
              <a:ea typeface="宋体" pitchFamily="2" charset="-122"/>
            </a:endParaRPr>
          </a:p>
          <a:p>
            <a:pPr algn="l" fontAlgn="auto">
              <a:lnSpc>
                <a:spcPct val="150000"/>
              </a:lnSpc>
              <a:buClrTx/>
              <a:buSzTx/>
              <a:buNone/>
            </a:pPr>
            <a:r>
              <a:rPr lang="zh-CN" altLang="en-US" kern="100" dirty="0">
                <a:effectLst/>
                <a:latin typeface="宋体" pitchFamily="2" charset="-122"/>
                <a:ea typeface="宋体" pitchFamily="2" charset="-122"/>
              </a:rPr>
              <a:t>（</a:t>
            </a:r>
            <a:r>
              <a:rPr lang="en-US" altLang="zh-CN" kern="100" dirty="0">
                <a:effectLst/>
                <a:latin typeface="宋体" pitchFamily="2" charset="-122"/>
                <a:ea typeface="宋体" pitchFamily="2" charset="-122"/>
              </a:rPr>
              <a:t>3</a:t>
            </a:r>
            <a:r>
              <a:rPr lang="zh-CN" altLang="en-US" kern="100" dirty="0">
                <a:effectLst/>
                <a:latin typeface="宋体" pitchFamily="2" charset="-122"/>
                <a:ea typeface="宋体" pitchFamily="2" charset="-122"/>
              </a:rPr>
              <a:t>）点击创建报告按钮，系统会弹出影像报告表单，医护人员可以在表单中为影像创建</a:t>
            </a:r>
            <a:r>
              <a:rPr lang="zh-CN" altLang="en-US" kern="100" dirty="0">
                <a:effectLst/>
                <a:latin typeface="宋体" pitchFamily="2" charset="-122"/>
                <a:ea typeface="宋体" pitchFamily="2" charset="-122"/>
              </a:rPr>
              <a:t>报告。</a:t>
            </a:r>
            <a:endParaRPr lang="zh-CN" altLang="en-US" kern="100" dirty="0">
              <a:effectLst/>
              <a:latin typeface="宋体" pitchFamily="2" charset="-122"/>
              <a:ea typeface="宋体" pitchFamily="2" charset="-122"/>
            </a:endParaRPr>
          </a:p>
          <a:p>
            <a:pPr algn="l" fontAlgn="auto">
              <a:lnSpc>
                <a:spcPct val="150000"/>
              </a:lnSpc>
              <a:buClrTx/>
              <a:buSzTx/>
              <a:buNone/>
            </a:pPr>
            <a:r>
              <a:rPr lang="zh-CN" altLang="en-US" b="1" kern="100" dirty="0">
                <a:effectLst/>
                <a:latin typeface="宋体" pitchFamily="2" charset="-122"/>
                <a:ea typeface="宋体" pitchFamily="2" charset="-122"/>
              </a:rPr>
              <a:t>报告的查询：</a:t>
            </a:r>
            <a:endParaRPr lang="zh-CN" altLang="en-US" b="1" kern="100" dirty="0">
              <a:effectLst/>
              <a:latin typeface="宋体" pitchFamily="2" charset="-122"/>
              <a:ea typeface="宋体" pitchFamily="2" charset="-122"/>
            </a:endParaRPr>
          </a:p>
          <a:p>
            <a:pPr algn="l" fontAlgn="auto">
              <a:lnSpc>
                <a:spcPct val="150000"/>
              </a:lnSpc>
              <a:buClrTx/>
              <a:buSzTx/>
              <a:buNone/>
            </a:pPr>
            <a:r>
              <a:rPr lang="en-US" altLang="zh-CN" kern="100" dirty="0">
                <a:effectLst/>
                <a:latin typeface="宋体" pitchFamily="2" charset="-122"/>
                <a:ea typeface="宋体" pitchFamily="2" charset="-122"/>
              </a:rPr>
              <a:t>        </a:t>
            </a:r>
            <a:r>
              <a:rPr lang="zh-CN" altLang="en-US" kern="100" dirty="0">
                <a:effectLst/>
                <a:latin typeface="宋体" pitchFamily="2" charset="-122"/>
                <a:ea typeface="宋体" pitchFamily="2" charset="-122"/>
              </a:rPr>
              <a:t>通过多条件搜索到相关影像，通过将影像</a:t>
            </a:r>
            <a:r>
              <a:rPr lang="en-US" altLang="zh-CN" kern="100" dirty="0">
                <a:effectLst/>
                <a:latin typeface="宋体" pitchFamily="2" charset="-122"/>
                <a:ea typeface="宋体" pitchFamily="2" charset="-122"/>
              </a:rPr>
              <a:t>id</a:t>
            </a:r>
            <a:r>
              <a:rPr lang="zh-CN" altLang="en-US" kern="100" dirty="0">
                <a:effectLst/>
                <a:latin typeface="宋体" pitchFamily="2" charset="-122"/>
                <a:ea typeface="宋体" pitchFamily="2" charset="-122"/>
              </a:rPr>
              <a:t>传送给后端，后端根据影像</a:t>
            </a:r>
            <a:r>
              <a:rPr lang="en-US" altLang="zh-CN" kern="100" dirty="0">
                <a:effectLst/>
                <a:latin typeface="宋体" pitchFamily="2" charset="-122"/>
                <a:ea typeface="宋体" pitchFamily="2" charset="-122"/>
              </a:rPr>
              <a:t>id</a:t>
            </a:r>
            <a:r>
              <a:rPr lang="zh-CN" altLang="en-US" kern="100" dirty="0">
                <a:effectLst/>
                <a:latin typeface="宋体" pitchFamily="2" charset="-122"/>
                <a:ea typeface="宋体" pitchFamily="2" charset="-122"/>
              </a:rPr>
              <a:t>在</a:t>
            </a:r>
            <a:r>
              <a:rPr lang="en-US" altLang="zh-CN" kern="100" dirty="0">
                <a:effectLst/>
                <a:latin typeface="宋体" pitchFamily="2" charset="-122"/>
                <a:ea typeface="宋体" pitchFamily="2" charset="-122"/>
              </a:rPr>
              <a:t>report</a:t>
            </a:r>
            <a:r>
              <a:rPr lang="zh-CN" altLang="en-US" kern="100" dirty="0">
                <a:effectLst/>
                <a:latin typeface="宋体" pitchFamily="2" charset="-122"/>
                <a:ea typeface="宋体" pitchFamily="2" charset="-122"/>
              </a:rPr>
              <a:t>表中查询到所有与该影像相关的</a:t>
            </a:r>
            <a:r>
              <a:rPr lang="zh-CN" altLang="en-US" kern="100" dirty="0">
                <a:effectLst/>
                <a:latin typeface="宋体" pitchFamily="2" charset="-122"/>
                <a:ea typeface="宋体" pitchFamily="2" charset="-122"/>
              </a:rPr>
              <a:t>报告。</a:t>
            </a:r>
            <a:endParaRPr lang="zh-CN" altLang="en-US" kern="100" dirty="0">
              <a:effectLst/>
              <a:latin typeface="宋体" pitchFamily="2" charset="-122"/>
              <a:ea typeface="宋体"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报告管理</a:t>
            </a:r>
            <a:r>
              <a:rPr lang="zh-CN" altLang="en-US" dirty="0"/>
              <a:t>效果图</a:t>
            </a:r>
            <a:endParaRPr lang="zh-CN" altLang="en-US" dirty="0"/>
          </a:p>
        </p:txBody>
      </p:sp>
      <p:sp>
        <p:nvSpPr>
          <p:cNvPr id="4" name="文本框 3"/>
          <p:cNvSpPr txBox="1"/>
          <p:nvPr>
            <p:custDataLst>
              <p:tags r:id="rId1"/>
            </p:custDataLst>
          </p:nvPr>
        </p:nvSpPr>
        <p:spPr>
          <a:xfrm>
            <a:off x="848360" y="1068070"/>
            <a:ext cx="6096000" cy="368300"/>
          </a:xfrm>
          <a:prstGeom prst="rect">
            <a:avLst/>
          </a:prstGeom>
          <a:noFill/>
        </p:spPr>
        <p:txBody>
          <a:bodyPr wrap="square" rtlCol="0" anchor="t">
            <a:spAutoFit/>
          </a:bodyPr>
          <a:p>
            <a:r>
              <a:rPr lang="zh-CN" altLang="en-US"/>
              <a:t>报告</a:t>
            </a:r>
            <a:r>
              <a:rPr lang="zh-CN" altLang="en-US"/>
              <a:t>创建</a:t>
            </a:r>
            <a:endParaRPr lang="zh-CN" altLang="en-US"/>
          </a:p>
        </p:txBody>
      </p:sp>
      <p:pic>
        <p:nvPicPr>
          <p:cNvPr id="5" name="图片 4"/>
          <p:cNvPicPr>
            <a:picLocks noChangeAspect="1"/>
          </p:cNvPicPr>
          <p:nvPr>
            <p:custDataLst>
              <p:tags r:id="rId2"/>
            </p:custDataLst>
          </p:nvPr>
        </p:nvPicPr>
        <p:blipFill>
          <a:blip r:embed="rId3"/>
          <a:stretch>
            <a:fillRect/>
          </a:stretch>
        </p:blipFill>
        <p:spPr>
          <a:xfrm>
            <a:off x="848360" y="1571625"/>
            <a:ext cx="9785350" cy="497014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报告管理</a:t>
            </a:r>
            <a:r>
              <a:rPr lang="zh-CN" altLang="en-US" dirty="0"/>
              <a:t>效果图</a:t>
            </a:r>
            <a:endParaRPr lang="zh-CN" altLang="en-US" dirty="0"/>
          </a:p>
        </p:txBody>
      </p:sp>
      <p:pic>
        <p:nvPicPr>
          <p:cNvPr id="3" name="图片 2"/>
          <p:cNvPicPr>
            <a:picLocks noChangeAspect="1"/>
          </p:cNvPicPr>
          <p:nvPr>
            <p:custDataLst>
              <p:tags r:id="rId1"/>
            </p:custDataLst>
          </p:nvPr>
        </p:nvPicPr>
        <p:blipFill>
          <a:blip r:embed="rId2"/>
          <a:stretch>
            <a:fillRect/>
          </a:stretch>
        </p:blipFill>
        <p:spPr>
          <a:xfrm>
            <a:off x="848360" y="1701165"/>
            <a:ext cx="9535795" cy="4789805"/>
          </a:xfrm>
          <a:prstGeom prst="rect">
            <a:avLst/>
          </a:prstGeom>
        </p:spPr>
      </p:pic>
      <p:sp>
        <p:nvSpPr>
          <p:cNvPr id="4" name="文本框 3"/>
          <p:cNvSpPr txBox="1"/>
          <p:nvPr>
            <p:custDataLst>
              <p:tags r:id="rId3"/>
            </p:custDataLst>
          </p:nvPr>
        </p:nvSpPr>
        <p:spPr>
          <a:xfrm>
            <a:off x="848360" y="1068070"/>
            <a:ext cx="6096000" cy="368300"/>
          </a:xfrm>
          <a:prstGeom prst="rect">
            <a:avLst/>
          </a:prstGeom>
          <a:noFill/>
        </p:spPr>
        <p:txBody>
          <a:bodyPr wrap="square" rtlCol="0" anchor="t">
            <a:spAutoFit/>
          </a:bodyPr>
          <a:p>
            <a:r>
              <a:rPr lang="zh-CN" altLang="en-US"/>
              <a:t>报告</a:t>
            </a:r>
            <a:r>
              <a:rPr lang="zh-CN" altLang="en-US"/>
              <a:t>查询</a:t>
            </a: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实时</a:t>
            </a:r>
            <a:r>
              <a:rPr lang="zh-CN" altLang="en-US" dirty="0"/>
              <a:t>聊天实现</a:t>
            </a:r>
            <a:endParaRPr lang="zh-CN" altLang="en-US" dirty="0"/>
          </a:p>
        </p:txBody>
      </p:sp>
      <p:sp>
        <p:nvSpPr>
          <p:cNvPr id="5" name="文本框 4"/>
          <p:cNvSpPr txBox="1"/>
          <p:nvPr/>
        </p:nvSpPr>
        <p:spPr>
          <a:xfrm>
            <a:off x="478790" y="1228725"/>
            <a:ext cx="11294745" cy="5163820"/>
          </a:xfrm>
          <a:prstGeom prst="rect">
            <a:avLst/>
          </a:prstGeom>
          <a:noFill/>
        </p:spPr>
        <p:txBody>
          <a:bodyPr wrap="square" rtlCol="0">
            <a:noAutofit/>
          </a:bodyPr>
          <a:p>
            <a:pPr algn="l" fontAlgn="auto">
              <a:lnSpc>
                <a:spcPct val="150000"/>
              </a:lnSpc>
              <a:buClrTx/>
              <a:buSzTx/>
              <a:buNone/>
            </a:pPr>
            <a:r>
              <a:rPr lang="zh-CN" altLang="en-US" kern="100" dirty="0">
                <a:effectLst/>
                <a:latin typeface="宋体" pitchFamily="2" charset="-122"/>
                <a:ea typeface="宋体" pitchFamily="2" charset="-122"/>
              </a:rPr>
              <a:t>（</a:t>
            </a:r>
            <a:r>
              <a:rPr lang="en-US" altLang="zh-CN" kern="100" dirty="0">
                <a:effectLst/>
                <a:latin typeface="宋体" pitchFamily="2" charset="-122"/>
                <a:ea typeface="宋体" pitchFamily="2" charset="-122"/>
              </a:rPr>
              <a:t>1</a:t>
            </a:r>
            <a:r>
              <a:rPr lang="zh-CN" altLang="en-US" kern="100" dirty="0">
                <a:effectLst/>
                <a:latin typeface="宋体" pitchFamily="2" charset="-122"/>
                <a:ea typeface="宋体" pitchFamily="2" charset="-122"/>
              </a:rPr>
              <a:t>）</a:t>
            </a:r>
            <a:r>
              <a:rPr lang="zh-CN" altLang="en-US" b="1" kern="100" dirty="0">
                <a:effectLst/>
                <a:latin typeface="宋体" pitchFamily="2" charset="-122"/>
                <a:ea typeface="宋体" pitchFamily="2" charset="-122"/>
              </a:rPr>
              <a:t>建立连接。</a:t>
            </a:r>
            <a:r>
              <a:rPr lang="zh-CN" altLang="en-US" kern="100" dirty="0">
                <a:effectLst/>
                <a:latin typeface="宋体" pitchFamily="2" charset="-122"/>
                <a:ea typeface="宋体" pitchFamily="2" charset="-122"/>
              </a:rPr>
              <a:t>当</a:t>
            </a:r>
            <a:r>
              <a:rPr lang="en-US" altLang="zh-CN" kern="100" dirty="0">
                <a:effectLst/>
                <a:latin typeface="宋体" pitchFamily="2" charset="-122"/>
                <a:ea typeface="宋体" pitchFamily="2" charset="-122"/>
              </a:rPr>
              <a:t>MessageCenter.vue</a:t>
            </a:r>
            <a:r>
              <a:rPr lang="zh-CN" altLang="en-US" kern="100" dirty="0">
                <a:effectLst/>
                <a:latin typeface="宋体" pitchFamily="2" charset="-122"/>
                <a:ea typeface="宋体" pitchFamily="2" charset="-122"/>
              </a:rPr>
              <a:t>组件挂载时，会调用</a:t>
            </a:r>
            <a:r>
              <a:rPr lang="en-US" altLang="zh-CN" kern="100" dirty="0">
                <a:effectLst/>
                <a:latin typeface="宋体" pitchFamily="2" charset="-122"/>
                <a:ea typeface="宋体" pitchFamily="2" charset="-122"/>
              </a:rPr>
              <a:t>connectWebSocket</a:t>
            </a:r>
            <a:r>
              <a:rPr lang="zh-CN" altLang="en-US" kern="100" dirty="0">
                <a:effectLst/>
                <a:latin typeface="宋体" pitchFamily="2" charset="-122"/>
                <a:ea typeface="宋体" pitchFamily="2" charset="-122"/>
              </a:rPr>
              <a:t>初始化与后端的连接；具体过程为：首先</a:t>
            </a:r>
            <a:r>
              <a:rPr lang="en-US" altLang="zh-CN" kern="100" dirty="0">
                <a:effectLst/>
                <a:latin typeface="宋体" pitchFamily="2" charset="-122"/>
                <a:ea typeface="宋体" pitchFamily="2" charset="-122"/>
              </a:rPr>
              <a:t>new</a:t>
            </a:r>
            <a:r>
              <a:rPr lang="zh-CN" altLang="en-US" kern="100" dirty="0">
                <a:effectLst/>
                <a:latin typeface="宋体" pitchFamily="2" charset="-122"/>
                <a:ea typeface="宋体" pitchFamily="2" charset="-122"/>
              </a:rPr>
              <a:t>一个</a:t>
            </a:r>
            <a:r>
              <a:rPr lang="en-US" altLang="zh-CN" kern="100" dirty="0">
                <a:effectLst/>
                <a:latin typeface="宋体" pitchFamily="2" charset="-122"/>
                <a:ea typeface="宋体" pitchFamily="2" charset="-122"/>
              </a:rPr>
              <a:t>SockJS</a:t>
            </a:r>
            <a:r>
              <a:rPr lang="zh-CN" altLang="en-US" kern="100" dirty="0">
                <a:effectLst/>
                <a:latin typeface="宋体" pitchFamily="2" charset="-122"/>
                <a:ea typeface="宋体" pitchFamily="2" charset="-122"/>
              </a:rPr>
              <a:t>实例，并配置一个代理地址（后端服务器的地址）；然后将</a:t>
            </a:r>
            <a:r>
              <a:rPr lang="en-US" altLang="zh-CN" kern="100" dirty="0">
                <a:effectLst/>
                <a:latin typeface="宋体" pitchFamily="2" charset="-122"/>
                <a:ea typeface="宋体" pitchFamily="2" charset="-122"/>
              </a:rPr>
              <a:t>SockJS</a:t>
            </a:r>
            <a:r>
              <a:rPr lang="zh-CN" altLang="en-US" kern="100" dirty="0">
                <a:effectLst/>
                <a:latin typeface="宋体" pitchFamily="2" charset="-122"/>
                <a:ea typeface="宋体" pitchFamily="2" charset="-122"/>
              </a:rPr>
              <a:t>包装为一个</a:t>
            </a:r>
            <a:r>
              <a:rPr lang="en-US" altLang="zh-CN" kern="100" dirty="0">
                <a:effectLst/>
                <a:latin typeface="宋体" pitchFamily="2" charset="-122"/>
                <a:ea typeface="宋体" pitchFamily="2" charset="-122"/>
              </a:rPr>
              <a:t>STOMP</a:t>
            </a:r>
            <a:r>
              <a:rPr lang="zh-CN" altLang="en-US" kern="100" dirty="0">
                <a:effectLst/>
                <a:latin typeface="宋体" pitchFamily="2" charset="-122"/>
                <a:ea typeface="宋体" pitchFamily="2" charset="-122"/>
              </a:rPr>
              <a:t>客户端Stomp.over(socket)，连接时，从</a:t>
            </a:r>
            <a:r>
              <a:rPr lang="en-US" altLang="zh-CN" kern="100" dirty="0">
                <a:effectLst/>
                <a:latin typeface="宋体" pitchFamily="2" charset="-122"/>
                <a:ea typeface="宋体" pitchFamily="2" charset="-122"/>
              </a:rPr>
              <a:t>pinia</a:t>
            </a:r>
            <a:r>
              <a:rPr lang="zh-CN" altLang="en-US" kern="100" dirty="0">
                <a:effectLst/>
                <a:latin typeface="宋体" pitchFamily="2" charset="-122"/>
                <a:ea typeface="宋体" pitchFamily="2" charset="-122"/>
              </a:rPr>
              <a:t>的</a:t>
            </a:r>
            <a:r>
              <a:rPr lang="en-US" altLang="zh-CN" kern="100" dirty="0">
                <a:effectLst/>
                <a:latin typeface="宋体" pitchFamily="2" charset="-122"/>
                <a:ea typeface="宋体" pitchFamily="2" charset="-122"/>
              </a:rPr>
              <a:t>store</a:t>
            </a:r>
            <a:r>
              <a:rPr lang="zh-CN" altLang="en-US" kern="100" dirty="0">
                <a:effectLst/>
                <a:latin typeface="宋体" pitchFamily="2" charset="-122"/>
                <a:ea typeface="宋体" pitchFamily="2" charset="-122"/>
              </a:rPr>
              <a:t>中获取用户的</a:t>
            </a:r>
            <a:r>
              <a:rPr lang="en-US" altLang="zh-CN" kern="100" dirty="0">
                <a:effectLst/>
                <a:latin typeface="宋体" pitchFamily="2" charset="-122"/>
                <a:ea typeface="宋体" pitchFamily="2" charset="-122"/>
              </a:rPr>
              <a:t>Token</a:t>
            </a:r>
            <a:r>
              <a:rPr lang="zh-CN" altLang="en-US" kern="100" dirty="0">
                <a:effectLst/>
                <a:latin typeface="宋体" pitchFamily="2" charset="-122"/>
                <a:ea typeface="宋体" pitchFamily="2" charset="-122"/>
              </a:rPr>
              <a:t>放在请求头用于后端身份</a:t>
            </a:r>
            <a:r>
              <a:rPr lang="zh-CN" altLang="en-US" kern="100" dirty="0">
                <a:effectLst/>
                <a:latin typeface="宋体" pitchFamily="2" charset="-122"/>
                <a:ea typeface="宋体" pitchFamily="2" charset="-122"/>
              </a:rPr>
              <a:t>验证。</a:t>
            </a:r>
            <a:endParaRPr lang="zh-CN" altLang="en-US" kern="100" dirty="0">
              <a:effectLst/>
              <a:latin typeface="宋体" pitchFamily="2" charset="-122"/>
              <a:ea typeface="宋体" pitchFamily="2" charset="-122"/>
            </a:endParaRPr>
          </a:p>
          <a:p>
            <a:pPr algn="l" fontAlgn="auto">
              <a:lnSpc>
                <a:spcPct val="150000"/>
              </a:lnSpc>
              <a:buClrTx/>
              <a:buSzTx/>
              <a:buNone/>
            </a:pPr>
            <a:r>
              <a:rPr lang="zh-CN" altLang="en-US" kern="100" dirty="0">
                <a:effectLst/>
                <a:latin typeface="宋体" pitchFamily="2" charset="-122"/>
                <a:ea typeface="宋体" pitchFamily="2" charset="-122"/>
              </a:rPr>
              <a:t>（</a:t>
            </a:r>
            <a:r>
              <a:rPr lang="en-US" altLang="zh-CN" kern="100" dirty="0">
                <a:effectLst/>
                <a:latin typeface="宋体" pitchFamily="2" charset="-122"/>
                <a:ea typeface="宋体" pitchFamily="2" charset="-122"/>
              </a:rPr>
              <a:t>2</a:t>
            </a:r>
            <a:r>
              <a:rPr lang="zh-CN" altLang="en-US" kern="100" dirty="0">
                <a:effectLst/>
                <a:latin typeface="宋体" pitchFamily="2" charset="-122"/>
                <a:ea typeface="宋体" pitchFamily="2" charset="-122"/>
              </a:rPr>
              <a:t>）</a:t>
            </a:r>
            <a:r>
              <a:rPr lang="zh-CN" altLang="en-US" b="1" kern="100" dirty="0">
                <a:effectLst/>
                <a:latin typeface="宋体" pitchFamily="2" charset="-122"/>
                <a:ea typeface="宋体" pitchFamily="2" charset="-122"/>
              </a:rPr>
              <a:t>订阅消息。</a:t>
            </a:r>
            <a:r>
              <a:rPr lang="zh-CN" altLang="en-US" kern="100" dirty="0">
                <a:effectLst/>
                <a:latin typeface="宋体" pitchFamily="2" charset="-122"/>
                <a:ea typeface="宋体" pitchFamily="2" charset="-122"/>
              </a:rPr>
              <a:t>连接成功后，客户端会订阅一个用户专属的消息队列，地址为/user/${currentUserId}/queue/messages，只有发送给该用户的消息才会被推送到这个</a:t>
            </a:r>
            <a:r>
              <a:rPr lang="zh-CN" altLang="en-US" kern="100" dirty="0">
                <a:effectLst/>
                <a:latin typeface="宋体" pitchFamily="2" charset="-122"/>
                <a:ea typeface="宋体" pitchFamily="2" charset="-122"/>
              </a:rPr>
              <a:t>队列。</a:t>
            </a:r>
            <a:endParaRPr lang="zh-CN" altLang="en-US" kern="100" dirty="0">
              <a:effectLst/>
              <a:latin typeface="宋体" pitchFamily="2" charset="-122"/>
              <a:ea typeface="宋体" pitchFamily="2" charset="-122"/>
            </a:endParaRPr>
          </a:p>
          <a:p>
            <a:pPr algn="l" fontAlgn="auto">
              <a:lnSpc>
                <a:spcPct val="150000"/>
              </a:lnSpc>
              <a:buClrTx/>
              <a:buSzTx/>
              <a:buNone/>
            </a:pPr>
            <a:r>
              <a:rPr lang="zh-CN" altLang="en-US" kern="100" dirty="0">
                <a:effectLst/>
                <a:latin typeface="宋体" pitchFamily="2" charset="-122"/>
                <a:ea typeface="宋体" pitchFamily="2" charset="-122"/>
              </a:rPr>
              <a:t>（</a:t>
            </a:r>
            <a:r>
              <a:rPr lang="en-US" altLang="zh-CN" kern="100" dirty="0">
                <a:effectLst/>
                <a:latin typeface="宋体" pitchFamily="2" charset="-122"/>
                <a:ea typeface="宋体" pitchFamily="2" charset="-122"/>
              </a:rPr>
              <a:t>3</a:t>
            </a:r>
            <a:r>
              <a:rPr lang="zh-CN" altLang="en-US" kern="100" dirty="0">
                <a:effectLst/>
                <a:latin typeface="宋体" pitchFamily="2" charset="-122"/>
                <a:ea typeface="宋体" pitchFamily="2" charset="-122"/>
              </a:rPr>
              <a:t>）</a:t>
            </a:r>
            <a:r>
              <a:rPr lang="zh-CN" altLang="en-US" b="1" kern="100" dirty="0">
                <a:effectLst/>
                <a:latin typeface="宋体" pitchFamily="2" charset="-122"/>
                <a:ea typeface="宋体" pitchFamily="2" charset="-122"/>
              </a:rPr>
              <a:t>接收消息。</a:t>
            </a:r>
            <a:r>
              <a:rPr lang="zh-CN" altLang="en-US" kern="100" dirty="0">
                <a:effectLst/>
                <a:latin typeface="宋体" pitchFamily="2" charset="-122"/>
                <a:ea typeface="宋体" pitchFamily="2" charset="-122"/>
              </a:rPr>
              <a:t>用户在输入框输入消息并发送后，</a:t>
            </a:r>
            <a:r>
              <a:rPr lang="en-US" altLang="zh-CN" kern="100" dirty="0">
                <a:effectLst/>
                <a:latin typeface="宋体" pitchFamily="2" charset="-122"/>
                <a:ea typeface="宋体" pitchFamily="2" charset="-122"/>
              </a:rPr>
              <a:t>handleSendMessage</a:t>
            </a:r>
            <a:r>
              <a:rPr lang="zh-CN" altLang="en-US" kern="100" dirty="0">
                <a:effectLst/>
                <a:latin typeface="宋体" pitchFamily="2" charset="-122"/>
                <a:ea typeface="宋体" pitchFamily="2" charset="-122"/>
              </a:rPr>
              <a:t>会被调用，方法构建一个包含接收方、发送方、消息体的对象通过stompClient.send("/app/chat", {}, JSON.stringify(messageData))发送给后端</a:t>
            </a:r>
            <a:r>
              <a:rPr lang="en-US" altLang="zh-CN" kern="100" dirty="0">
                <a:effectLst/>
                <a:latin typeface="宋体" pitchFamily="2" charset="-122"/>
                <a:ea typeface="宋体" pitchFamily="2" charset="-122"/>
              </a:rPr>
              <a:t> /app/chat </a:t>
            </a:r>
            <a:r>
              <a:rPr lang="zh-CN" altLang="en-US" kern="100" dirty="0">
                <a:effectLst/>
                <a:latin typeface="宋体" pitchFamily="2" charset="-122"/>
                <a:ea typeface="宋体" pitchFamily="2" charset="-122"/>
              </a:rPr>
              <a:t>地址。</a:t>
            </a:r>
            <a:endParaRPr lang="zh-CN" altLang="en-US" kern="100" dirty="0">
              <a:effectLst/>
              <a:latin typeface="宋体" pitchFamily="2" charset="-122"/>
              <a:ea typeface="宋体" pitchFamily="2" charset="-122"/>
            </a:endParaRPr>
          </a:p>
          <a:p>
            <a:pPr algn="l" fontAlgn="auto">
              <a:lnSpc>
                <a:spcPct val="150000"/>
              </a:lnSpc>
              <a:buClrTx/>
              <a:buSzTx/>
              <a:buNone/>
            </a:pPr>
            <a:r>
              <a:rPr lang="zh-CN" altLang="en-US" kern="100" dirty="0">
                <a:effectLst/>
                <a:latin typeface="宋体" pitchFamily="2" charset="-122"/>
                <a:ea typeface="宋体" pitchFamily="2" charset="-122"/>
              </a:rPr>
              <a:t>（</a:t>
            </a:r>
            <a:r>
              <a:rPr lang="en-US" altLang="zh-CN" kern="100" dirty="0">
                <a:effectLst/>
                <a:latin typeface="宋体" pitchFamily="2" charset="-122"/>
                <a:ea typeface="宋体" pitchFamily="2" charset="-122"/>
              </a:rPr>
              <a:t>4</a:t>
            </a:r>
            <a:r>
              <a:rPr lang="zh-CN" altLang="en-US" kern="100" dirty="0">
                <a:effectLst/>
                <a:latin typeface="宋体" pitchFamily="2" charset="-122"/>
                <a:ea typeface="宋体" pitchFamily="2" charset="-122"/>
              </a:rPr>
              <a:t>）</a:t>
            </a:r>
            <a:r>
              <a:rPr lang="zh-CN" altLang="en-US" b="1" kern="100" dirty="0">
                <a:effectLst/>
                <a:latin typeface="宋体" pitchFamily="2" charset="-122"/>
                <a:ea typeface="宋体" pitchFamily="2" charset="-122"/>
              </a:rPr>
              <a:t>发送图片。</a:t>
            </a:r>
            <a:r>
              <a:rPr lang="zh-CN" altLang="en-US" kern="100" dirty="0">
                <a:effectLst/>
                <a:latin typeface="宋体" pitchFamily="2" charset="-122"/>
                <a:ea typeface="宋体" pitchFamily="2" charset="-122"/>
              </a:rPr>
              <a:t>首先搜索出想要发送的图片，构建出一个</a:t>
            </a:r>
            <a:r>
              <a:rPr lang="en-US" altLang="zh-CN" kern="100" dirty="0">
                <a:effectLst/>
                <a:latin typeface="宋体" pitchFamily="2" charset="-122"/>
                <a:ea typeface="宋体" pitchFamily="2" charset="-122"/>
              </a:rPr>
              <a:t>share</a:t>
            </a:r>
            <a:r>
              <a:rPr lang="zh-CN" altLang="en-US" kern="100" dirty="0">
                <a:effectLst/>
                <a:latin typeface="宋体" pitchFamily="2" charset="-122"/>
                <a:ea typeface="宋体" pitchFamily="2" charset="-122"/>
              </a:rPr>
              <a:t>的消息对象，包含了影像的</a:t>
            </a:r>
            <a:r>
              <a:rPr lang="en-US" altLang="zh-CN" kern="100" dirty="0">
                <a:effectLst/>
                <a:latin typeface="宋体" pitchFamily="2" charset="-122"/>
                <a:ea typeface="宋体" pitchFamily="2" charset="-122"/>
              </a:rPr>
              <a:t>id</a:t>
            </a:r>
            <a:r>
              <a:rPr lang="zh-CN" altLang="en-US" kern="100" dirty="0">
                <a:effectLst/>
                <a:latin typeface="宋体" pitchFamily="2" charset="-122"/>
                <a:ea typeface="宋体" pitchFamily="2" charset="-122"/>
              </a:rPr>
              <a:t>，然后通过</a:t>
            </a:r>
            <a:r>
              <a:rPr lang="en-US" altLang="zh-CN" kern="100" dirty="0">
                <a:effectLst/>
                <a:latin typeface="宋体" pitchFamily="2" charset="-122"/>
                <a:ea typeface="宋体" pitchFamily="2" charset="-122"/>
              </a:rPr>
              <a:t>WebSocket</a:t>
            </a:r>
            <a:r>
              <a:rPr lang="zh-CN" altLang="en-US" kern="100" dirty="0">
                <a:effectLst/>
                <a:latin typeface="宋体" pitchFamily="2" charset="-122"/>
                <a:ea typeface="宋体" pitchFamily="2" charset="-122"/>
              </a:rPr>
              <a:t>发送出去。接收方接收到消息会显示一个可以点击的链接，点击后可以查看影像</a:t>
            </a:r>
            <a:r>
              <a:rPr lang="zh-CN" altLang="en-US" kern="100" dirty="0">
                <a:effectLst/>
                <a:latin typeface="宋体" pitchFamily="2" charset="-122"/>
                <a:ea typeface="宋体" pitchFamily="2" charset="-122"/>
              </a:rPr>
              <a:t>详情。</a:t>
            </a:r>
            <a:endParaRPr lang="zh-CN" altLang="en-US" kern="100" dirty="0">
              <a:effectLst/>
              <a:latin typeface="宋体" pitchFamily="2" charset="-122"/>
              <a:ea typeface="宋体"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实时</a:t>
            </a:r>
            <a:r>
              <a:rPr lang="zh-CN" altLang="en-US" dirty="0"/>
              <a:t>聊天效果图</a:t>
            </a:r>
            <a:endParaRPr lang="zh-CN" altLang="en-US" dirty="0"/>
          </a:p>
        </p:txBody>
      </p:sp>
      <p:sp>
        <p:nvSpPr>
          <p:cNvPr id="4" name="文本框 3"/>
          <p:cNvSpPr txBox="1"/>
          <p:nvPr>
            <p:custDataLst>
              <p:tags r:id="rId1"/>
            </p:custDataLst>
          </p:nvPr>
        </p:nvSpPr>
        <p:spPr>
          <a:xfrm>
            <a:off x="601345" y="1068070"/>
            <a:ext cx="6096000" cy="368300"/>
          </a:xfrm>
          <a:prstGeom prst="rect">
            <a:avLst/>
          </a:prstGeom>
          <a:noFill/>
        </p:spPr>
        <p:txBody>
          <a:bodyPr wrap="square" rtlCol="0" anchor="t">
            <a:spAutoFit/>
          </a:bodyPr>
          <a:p>
            <a:r>
              <a:rPr lang="zh-CN" altLang="en-US"/>
              <a:t>实时消息</a:t>
            </a:r>
            <a:r>
              <a:rPr lang="zh-CN" altLang="en-US"/>
              <a:t>聊天</a:t>
            </a:r>
            <a:endParaRPr lang="zh-CN" altLang="en-US"/>
          </a:p>
        </p:txBody>
      </p:sp>
      <p:pic>
        <p:nvPicPr>
          <p:cNvPr id="5" name="图片 4"/>
          <p:cNvPicPr>
            <a:picLocks noChangeAspect="1"/>
          </p:cNvPicPr>
          <p:nvPr>
            <p:custDataLst>
              <p:tags r:id="rId2"/>
            </p:custDataLst>
          </p:nvPr>
        </p:nvPicPr>
        <p:blipFill>
          <a:blip r:embed="rId3"/>
          <a:stretch>
            <a:fillRect/>
          </a:stretch>
        </p:blipFill>
        <p:spPr>
          <a:xfrm>
            <a:off x="601345" y="1576705"/>
            <a:ext cx="10418445" cy="4953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ai</a:t>
            </a:r>
            <a:r>
              <a:rPr dirty="0"/>
              <a:t>智能辅助</a:t>
            </a:r>
            <a:r>
              <a:rPr dirty="0"/>
              <a:t>实现</a:t>
            </a:r>
            <a:endParaRPr dirty="0"/>
          </a:p>
        </p:txBody>
      </p:sp>
      <p:sp>
        <p:nvSpPr>
          <p:cNvPr id="5" name="文本框 4"/>
          <p:cNvSpPr txBox="1"/>
          <p:nvPr/>
        </p:nvSpPr>
        <p:spPr>
          <a:xfrm>
            <a:off x="478790" y="1228725"/>
            <a:ext cx="11294745" cy="5163820"/>
          </a:xfrm>
          <a:prstGeom prst="rect">
            <a:avLst/>
          </a:prstGeom>
          <a:noFill/>
        </p:spPr>
        <p:txBody>
          <a:bodyPr wrap="square" rtlCol="0">
            <a:noAutofit/>
          </a:bodyPr>
          <a:p>
            <a:pPr algn="l" fontAlgn="auto">
              <a:lnSpc>
                <a:spcPct val="150000"/>
              </a:lnSpc>
              <a:buClrTx/>
              <a:buSzTx/>
              <a:buNone/>
            </a:pPr>
            <a:r>
              <a:rPr lang="zh-CN" altLang="en-US" kern="100" dirty="0">
                <a:effectLst/>
                <a:latin typeface="宋体" pitchFamily="2" charset="-122"/>
                <a:ea typeface="宋体" pitchFamily="2" charset="-122"/>
              </a:rPr>
              <a:t>（</a:t>
            </a:r>
            <a:r>
              <a:rPr lang="en-US" altLang="zh-CN" kern="100" dirty="0">
                <a:effectLst/>
                <a:latin typeface="宋体" pitchFamily="2" charset="-122"/>
                <a:ea typeface="宋体" pitchFamily="2" charset="-122"/>
              </a:rPr>
              <a:t>1</a:t>
            </a:r>
            <a:r>
              <a:rPr lang="zh-CN" altLang="en-US" kern="100" dirty="0">
                <a:effectLst/>
                <a:latin typeface="宋体" pitchFamily="2" charset="-122"/>
                <a:ea typeface="宋体" pitchFamily="2" charset="-122"/>
              </a:rPr>
              <a:t>）</a:t>
            </a:r>
            <a:r>
              <a:rPr lang="zh-CN" altLang="en-US" b="1" kern="100" dirty="0">
                <a:effectLst/>
                <a:latin typeface="宋体" pitchFamily="2" charset="-122"/>
                <a:ea typeface="宋体" pitchFamily="2" charset="-122"/>
              </a:rPr>
              <a:t>建立连接。</a:t>
            </a:r>
            <a:r>
              <a:rPr lang="zh-CN" altLang="en-US" kern="100" dirty="0">
                <a:effectLst/>
                <a:latin typeface="宋体" pitchFamily="2" charset="-122"/>
                <a:ea typeface="宋体" pitchFamily="2" charset="-122"/>
              </a:rPr>
              <a:t>当</a:t>
            </a:r>
            <a:r>
              <a:rPr lang="en-US" altLang="zh-CN" kern="100" dirty="0">
                <a:effectLst/>
                <a:latin typeface="宋体" pitchFamily="2" charset="-122"/>
                <a:ea typeface="宋体" pitchFamily="2" charset="-122"/>
              </a:rPr>
              <a:t>MessageCenter.vue</a:t>
            </a:r>
            <a:r>
              <a:rPr lang="zh-CN" altLang="en-US" kern="100" dirty="0">
                <a:effectLst/>
                <a:latin typeface="宋体" pitchFamily="2" charset="-122"/>
                <a:ea typeface="宋体" pitchFamily="2" charset="-122"/>
              </a:rPr>
              <a:t>组件挂载时，会调用</a:t>
            </a:r>
            <a:r>
              <a:rPr lang="en-US" altLang="zh-CN" kern="100" dirty="0">
                <a:effectLst/>
                <a:latin typeface="宋体" pitchFamily="2" charset="-122"/>
                <a:ea typeface="宋体" pitchFamily="2" charset="-122"/>
              </a:rPr>
              <a:t>connectWebSocket</a:t>
            </a:r>
            <a:r>
              <a:rPr lang="zh-CN" altLang="en-US" kern="100" dirty="0">
                <a:effectLst/>
                <a:latin typeface="宋体" pitchFamily="2" charset="-122"/>
                <a:ea typeface="宋体" pitchFamily="2" charset="-122"/>
              </a:rPr>
              <a:t>初始化与后端的连接；具体过程为：首先</a:t>
            </a:r>
            <a:r>
              <a:rPr lang="en-US" altLang="zh-CN" kern="100" dirty="0">
                <a:effectLst/>
                <a:latin typeface="宋体" pitchFamily="2" charset="-122"/>
                <a:ea typeface="宋体" pitchFamily="2" charset="-122"/>
              </a:rPr>
              <a:t>new</a:t>
            </a:r>
            <a:r>
              <a:rPr lang="zh-CN" altLang="en-US" kern="100" dirty="0">
                <a:effectLst/>
                <a:latin typeface="宋体" pitchFamily="2" charset="-122"/>
                <a:ea typeface="宋体" pitchFamily="2" charset="-122"/>
              </a:rPr>
              <a:t>一个</a:t>
            </a:r>
            <a:r>
              <a:rPr lang="en-US" altLang="zh-CN" kern="100" dirty="0">
                <a:effectLst/>
                <a:latin typeface="宋体" pitchFamily="2" charset="-122"/>
                <a:ea typeface="宋体" pitchFamily="2" charset="-122"/>
              </a:rPr>
              <a:t>SockJS</a:t>
            </a:r>
            <a:r>
              <a:rPr lang="zh-CN" altLang="en-US" kern="100" dirty="0">
                <a:effectLst/>
                <a:latin typeface="宋体" pitchFamily="2" charset="-122"/>
                <a:ea typeface="宋体" pitchFamily="2" charset="-122"/>
              </a:rPr>
              <a:t>实例，并配置一个代理地址（后端服务器的地址）；然后将</a:t>
            </a:r>
            <a:r>
              <a:rPr lang="en-US" altLang="zh-CN" kern="100" dirty="0">
                <a:effectLst/>
                <a:latin typeface="宋体" pitchFamily="2" charset="-122"/>
                <a:ea typeface="宋体" pitchFamily="2" charset="-122"/>
              </a:rPr>
              <a:t>SockJS</a:t>
            </a:r>
            <a:r>
              <a:rPr lang="zh-CN" altLang="en-US" kern="100" dirty="0">
                <a:effectLst/>
                <a:latin typeface="宋体" pitchFamily="2" charset="-122"/>
                <a:ea typeface="宋体" pitchFamily="2" charset="-122"/>
              </a:rPr>
              <a:t>包装为一个</a:t>
            </a:r>
            <a:r>
              <a:rPr lang="en-US" altLang="zh-CN" kern="100" dirty="0">
                <a:effectLst/>
                <a:latin typeface="宋体" pitchFamily="2" charset="-122"/>
                <a:ea typeface="宋体" pitchFamily="2" charset="-122"/>
              </a:rPr>
              <a:t>STOMP</a:t>
            </a:r>
            <a:r>
              <a:rPr lang="zh-CN" altLang="en-US" kern="100" dirty="0">
                <a:effectLst/>
                <a:latin typeface="宋体" pitchFamily="2" charset="-122"/>
                <a:ea typeface="宋体" pitchFamily="2" charset="-122"/>
              </a:rPr>
              <a:t>客户端Stomp.over(socket)，连接时，从</a:t>
            </a:r>
            <a:r>
              <a:rPr lang="en-US" altLang="zh-CN" kern="100" dirty="0">
                <a:effectLst/>
                <a:latin typeface="宋体" pitchFamily="2" charset="-122"/>
                <a:ea typeface="宋体" pitchFamily="2" charset="-122"/>
              </a:rPr>
              <a:t>pinia</a:t>
            </a:r>
            <a:r>
              <a:rPr lang="zh-CN" altLang="en-US" kern="100" dirty="0">
                <a:effectLst/>
                <a:latin typeface="宋体" pitchFamily="2" charset="-122"/>
                <a:ea typeface="宋体" pitchFamily="2" charset="-122"/>
              </a:rPr>
              <a:t>的</a:t>
            </a:r>
            <a:r>
              <a:rPr lang="en-US" altLang="zh-CN" kern="100" dirty="0">
                <a:effectLst/>
                <a:latin typeface="宋体" pitchFamily="2" charset="-122"/>
                <a:ea typeface="宋体" pitchFamily="2" charset="-122"/>
              </a:rPr>
              <a:t>store</a:t>
            </a:r>
            <a:r>
              <a:rPr lang="zh-CN" altLang="en-US" kern="100" dirty="0">
                <a:effectLst/>
                <a:latin typeface="宋体" pitchFamily="2" charset="-122"/>
                <a:ea typeface="宋体" pitchFamily="2" charset="-122"/>
              </a:rPr>
              <a:t>中获取用户的</a:t>
            </a:r>
            <a:r>
              <a:rPr lang="en-US" altLang="zh-CN" kern="100" dirty="0">
                <a:effectLst/>
                <a:latin typeface="宋体" pitchFamily="2" charset="-122"/>
                <a:ea typeface="宋体" pitchFamily="2" charset="-122"/>
              </a:rPr>
              <a:t>Token</a:t>
            </a:r>
            <a:r>
              <a:rPr lang="zh-CN" altLang="en-US" kern="100" dirty="0">
                <a:effectLst/>
                <a:latin typeface="宋体" pitchFamily="2" charset="-122"/>
                <a:ea typeface="宋体" pitchFamily="2" charset="-122"/>
              </a:rPr>
              <a:t>放在请求头用于后端身份</a:t>
            </a:r>
            <a:r>
              <a:rPr lang="zh-CN" altLang="en-US" kern="100" dirty="0">
                <a:effectLst/>
                <a:latin typeface="宋体" pitchFamily="2" charset="-122"/>
                <a:ea typeface="宋体" pitchFamily="2" charset="-122"/>
              </a:rPr>
              <a:t>验证。</a:t>
            </a:r>
            <a:endParaRPr lang="zh-CN" altLang="en-US" kern="100" dirty="0">
              <a:effectLst/>
              <a:latin typeface="宋体" pitchFamily="2" charset="-122"/>
              <a:ea typeface="宋体" pitchFamily="2" charset="-122"/>
            </a:endParaRPr>
          </a:p>
          <a:p>
            <a:pPr algn="l" fontAlgn="auto">
              <a:lnSpc>
                <a:spcPct val="150000"/>
              </a:lnSpc>
              <a:buClrTx/>
              <a:buSzTx/>
              <a:buNone/>
            </a:pPr>
            <a:r>
              <a:rPr lang="zh-CN" altLang="en-US" kern="100" dirty="0">
                <a:effectLst/>
                <a:latin typeface="宋体" pitchFamily="2" charset="-122"/>
                <a:ea typeface="宋体" pitchFamily="2" charset="-122"/>
              </a:rPr>
              <a:t>（</a:t>
            </a:r>
            <a:r>
              <a:rPr lang="en-US" altLang="zh-CN" kern="100" dirty="0">
                <a:effectLst/>
                <a:latin typeface="宋体" pitchFamily="2" charset="-122"/>
                <a:ea typeface="宋体" pitchFamily="2" charset="-122"/>
              </a:rPr>
              <a:t>2</a:t>
            </a:r>
            <a:r>
              <a:rPr lang="zh-CN" altLang="en-US" kern="100" dirty="0">
                <a:effectLst/>
                <a:latin typeface="宋体" pitchFamily="2" charset="-122"/>
                <a:ea typeface="宋体" pitchFamily="2" charset="-122"/>
              </a:rPr>
              <a:t>）</a:t>
            </a:r>
            <a:r>
              <a:rPr lang="zh-CN" altLang="en-US" b="1" kern="100" dirty="0">
                <a:effectLst/>
                <a:latin typeface="宋体" pitchFamily="2" charset="-122"/>
                <a:ea typeface="宋体" pitchFamily="2" charset="-122"/>
              </a:rPr>
              <a:t>订阅消息。</a:t>
            </a:r>
            <a:r>
              <a:rPr lang="zh-CN" altLang="en-US" kern="100" dirty="0">
                <a:effectLst/>
                <a:latin typeface="宋体" pitchFamily="2" charset="-122"/>
                <a:ea typeface="宋体" pitchFamily="2" charset="-122"/>
              </a:rPr>
              <a:t>连接成功后，客户端会订阅一个用户专属的消息队列，地址为/user/${currentUserId}/queue/messages，只有发送给该用户的消息才会被推送到这个</a:t>
            </a:r>
            <a:r>
              <a:rPr lang="zh-CN" altLang="en-US" kern="100" dirty="0">
                <a:effectLst/>
                <a:latin typeface="宋体" pitchFamily="2" charset="-122"/>
                <a:ea typeface="宋体" pitchFamily="2" charset="-122"/>
              </a:rPr>
              <a:t>队列。</a:t>
            </a:r>
            <a:endParaRPr lang="zh-CN" altLang="en-US" kern="100" dirty="0">
              <a:effectLst/>
              <a:latin typeface="宋体" pitchFamily="2" charset="-122"/>
              <a:ea typeface="宋体" pitchFamily="2" charset="-122"/>
            </a:endParaRPr>
          </a:p>
          <a:p>
            <a:pPr algn="l" fontAlgn="auto">
              <a:lnSpc>
                <a:spcPct val="150000"/>
              </a:lnSpc>
              <a:buClrTx/>
              <a:buSzTx/>
              <a:buNone/>
            </a:pPr>
            <a:r>
              <a:rPr lang="zh-CN" altLang="en-US" kern="100" dirty="0">
                <a:effectLst/>
                <a:latin typeface="宋体" pitchFamily="2" charset="-122"/>
                <a:ea typeface="宋体" pitchFamily="2" charset="-122"/>
              </a:rPr>
              <a:t>（</a:t>
            </a:r>
            <a:r>
              <a:rPr lang="en-US" altLang="zh-CN" kern="100" dirty="0">
                <a:effectLst/>
                <a:latin typeface="宋体" pitchFamily="2" charset="-122"/>
                <a:ea typeface="宋体" pitchFamily="2" charset="-122"/>
              </a:rPr>
              <a:t>3</a:t>
            </a:r>
            <a:r>
              <a:rPr lang="zh-CN" altLang="en-US" kern="100" dirty="0">
                <a:effectLst/>
                <a:latin typeface="宋体" pitchFamily="2" charset="-122"/>
                <a:ea typeface="宋体" pitchFamily="2" charset="-122"/>
              </a:rPr>
              <a:t>）</a:t>
            </a:r>
            <a:r>
              <a:rPr lang="zh-CN" altLang="en-US" b="1" kern="100" dirty="0">
                <a:effectLst/>
                <a:latin typeface="宋体" pitchFamily="2" charset="-122"/>
                <a:ea typeface="宋体" pitchFamily="2" charset="-122"/>
              </a:rPr>
              <a:t>接收消息。</a:t>
            </a:r>
            <a:r>
              <a:rPr lang="zh-CN" altLang="en-US" kern="100" dirty="0">
                <a:effectLst/>
                <a:latin typeface="宋体" pitchFamily="2" charset="-122"/>
                <a:ea typeface="宋体" pitchFamily="2" charset="-122"/>
              </a:rPr>
              <a:t>用户在输入框输入消息并发送后，</a:t>
            </a:r>
            <a:r>
              <a:rPr lang="en-US" altLang="zh-CN" kern="100" dirty="0">
                <a:effectLst/>
                <a:latin typeface="宋体" pitchFamily="2" charset="-122"/>
                <a:ea typeface="宋体" pitchFamily="2" charset="-122"/>
              </a:rPr>
              <a:t>handleSendMessage</a:t>
            </a:r>
            <a:r>
              <a:rPr lang="zh-CN" altLang="en-US" kern="100" dirty="0">
                <a:effectLst/>
                <a:latin typeface="宋体" pitchFamily="2" charset="-122"/>
                <a:ea typeface="宋体" pitchFamily="2" charset="-122"/>
              </a:rPr>
              <a:t>会被调用，方法构建一个包含接收方、发送方、消息体的对象通过stompClient.send("/app/chat", {}, JSON.stringify(messageData))发送给后端</a:t>
            </a:r>
            <a:r>
              <a:rPr lang="en-US" altLang="zh-CN" kern="100" dirty="0">
                <a:effectLst/>
                <a:latin typeface="宋体" pitchFamily="2" charset="-122"/>
                <a:ea typeface="宋体" pitchFamily="2" charset="-122"/>
              </a:rPr>
              <a:t> /app/chat </a:t>
            </a:r>
            <a:r>
              <a:rPr lang="zh-CN" altLang="en-US" kern="100" dirty="0">
                <a:effectLst/>
                <a:latin typeface="宋体" pitchFamily="2" charset="-122"/>
                <a:ea typeface="宋体" pitchFamily="2" charset="-122"/>
              </a:rPr>
              <a:t>地址。</a:t>
            </a:r>
            <a:endParaRPr lang="zh-CN" altLang="en-US" kern="100" dirty="0">
              <a:effectLst/>
              <a:latin typeface="宋体" pitchFamily="2" charset="-122"/>
              <a:ea typeface="宋体" pitchFamily="2" charset="-122"/>
            </a:endParaRPr>
          </a:p>
          <a:p>
            <a:pPr algn="l" fontAlgn="auto">
              <a:lnSpc>
                <a:spcPct val="150000"/>
              </a:lnSpc>
              <a:buClrTx/>
              <a:buSzTx/>
              <a:buNone/>
            </a:pPr>
            <a:r>
              <a:rPr lang="zh-CN" altLang="en-US" kern="100" dirty="0">
                <a:effectLst/>
                <a:latin typeface="宋体" pitchFamily="2" charset="-122"/>
                <a:ea typeface="宋体" pitchFamily="2" charset="-122"/>
              </a:rPr>
              <a:t>（</a:t>
            </a:r>
            <a:r>
              <a:rPr lang="en-US" altLang="zh-CN" kern="100" dirty="0">
                <a:effectLst/>
                <a:latin typeface="宋体" pitchFamily="2" charset="-122"/>
                <a:ea typeface="宋体" pitchFamily="2" charset="-122"/>
              </a:rPr>
              <a:t>4</a:t>
            </a:r>
            <a:r>
              <a:rPr lang="zh-CN" altLang="en-US" kern="100" dirty="0">
                <a:effectLst/>
                <a:latin typeface="宋体" pitchFamily="2" charset="-122"/>
                <a:ea typeface="宋体" pitchFamily="2" charset="-122"/>
              </a:rPr>
              <a:t>）</a:t>
            </a:r>
            <a:r>
              <a:rPr lang="zh-CN" altLang="en-US" b="1" kern="100" dirty="0">
                <a:effectLst/>
                <a:latin typeface="宋体" pitchFamily="2" charset="-122"/>
                <a:ea typeface="宋体" pitchFamily="2" charset="-122"/>
              </a:rPr>
              <a:t>发送图片。</a:t>
            </a:r>
            <a:r>
              <a:rPr lang="zh-CN" altLang="en-US" kern="100" dirty="0">
                <a:effectLst/>
                <a:latin typeface="宋体" pitchFamily="2" charset="-122"/>
                <a:ea typeface="宋体" pitchFamily="2" charset="-122"/>
              </a:rPr>
              <a:t>首先搜索出想要发送的图片，构建出一个</a:t>
            </a:r>
            <a:r>
              <a:rPr lang="en-US" altLang="zh-CN" kern="100" dirty="0">
                <a:effectLst/>
                <a:latin typeface="宋体" pitchFamily="2" charset="-122"/>
                <a:ea typeface="宋体" pitchFamily="2" charset="-122"/>
              </a:rPr>
              <a:t>share</a:t>
            </a:r>
            <a:r>
              <a:rPr lang="zh-CN" altLang="en-US" kern="100" dirty="0">
                <a:effectLst/>
                <a:latin typeface="宋体" pitchFamily="2" charset="-122"/>
                <a:ea typeface="宋体" pitchFamily="2" charset="-122"/>
              </a:rPr>
              <a:t>的消息对象，包含了影像的</a:t>
            </a:r>
            <a:r>
              <a:rPr lang="en-US" altLang="zh-CN" kern="100" dirty="0">
                <a:effectLst/>
                <a:latin typeface="宋体" pitchFamily="2" charset="-122"/>
                <a:ea typeface="宋体" pitchFamily="2" charset="-122"/>
              </a:rPr>
              <a:t>id</a:t>
            </a:r>
            <a:r>
              <a:rPr lang="zh-CN" altLang="en-US" kern="100" dirty="0">
                <a:effectLst/>
                <a:latin typeface="宋体" pitchFamily="2" charset="-122"/>
                <a:ea typeface="宋体" pitchFamily="2" charset="-122"/>
              </a:rPr>
              <a:t>，然后通过</a:t>
            </a:r>
            <a:r>
              <a:rPr lang="en-US" altLang="zh-CN" kern="100" dirty="0">
                <a:effectLst/>
                <a:latin typeface="宋体" pitchFamily="2" charset="-122"/>
                <a:ea typeface="宋体" pitchFamily="2" charset="-122"/>
              </a:rPr>
              <a:t>WebSocket</a:t>
            </a:r>
            <a:r>
              <a:rPr lang="zh-CN" altLang="en-US" kern="100" dirty="0">
                <a:effectLst/>
                <a:latin typeface="宋体" pitchFamily="2" charset="-122"/>
                <a:ea typeface="宋体" pitchFamily="2" charset="-122"/>
              </a:rPr>
              <a:t>发送出去。接收方接收到消息会显示一个可以点击的链接，点击后可以查看影像</a:t>
            </a:r>
            <a:r>
              <a:rPr lang="zh-CN" altLang="en-US" kern="100" dirty="0">
                <a:effectLst/>
                <a:latin typeface="宋体" pitchFamily="2" charset="-122"/>
                <a:ea typeface="宋体" pitchFamily="2" charset="-122"/>
              </a:rPr>
              <a:t>详情。</a:t>
            </a:r>
            <a:endParaRPr lang="zh-CN" altLang="en-US" kern="100" dirty="0">
              <a:effectLst/>
              <a:latin typeface="宋体" pitchFamily="2" charset="-122"/>
              <a:ea typeface="宋体"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ai</a:t>
            </a:r>
            <a:r>
              <a:rPr dirty="0"/>
              <a:t>智能辅助</a:t>
            </a:r>
            <a:r>
              <a:rPr lang="en-US" altLang="zh-CN" dirty="0"/>
              <a:t>api</a:t>
            </a:r>
            <a:r>
              <a:rPr dirty="0"/>
              <a:t>调用</a:t>
            </a:r>
            <a:endParaRPr dirty="0"/>
          </a:p>
        </p:txBody>
      </p:sp>
      <p:pic>
        <p:nvPicPr>
          <p:cNvPr id="4" name="图片 3"/>
          <p:cNvPicPr>
            <a:picLocks noChangeAspect="1"/>
          </p:cNvPicPr>
          <p:nvPr>
            <p:custDataLst>
              <p:tags r:id="rId1"/>
            </p:custDataLst>
          </p:nvPr>
        </p:nvPicPr>
        <p:blipFill>
          <a:blip r:embed="rId2"/>
          <a:stretch>
            <a:fillRect/>
          </a:stretch>
        </p:blipFill>
        <p:spPr>
          <a:xfrm>
            <a:off x="754380" y="943610"/>
            <a:ext cx="8128000" cy="55118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ai</a:t>
            </a:r>
            <a:r>
              <a:rPr dirty="0"/>
              <a:t>智能辅助</a:t>
            </a:r>
            <a:r>
              <a:rPr dirty="0"/>
              <a:t>效果</a:t>
            </a:r>
            <a:endParaRPr dirty="0"/>
          </a:p>
        </p:txBody>
      </p:sp>
      <p:pic>
        <p:nvPicPr>
          <p:cNvPr id="3" name="图片 2"/>
          <p:cNvPicPr>
            <a:picLocks noChangeAspect="1"/>
          </p:cNvPicPr>
          <p:nvPr>
            <p:custDataLst>
              <p:tags r:id="rId1"/>
            </p:custDataLst>
          </p:nvPr>
        </p:nvPicPr>
        <p:blipFill>
          <a:blip r:embed="rId2"/>
          <a:stretch>
            <a:fillRect/>
          </a:stretch>
        </p:blipFill>
        <p:spPr>
          <a:xfrm>
            <a:off x="600710" y="1086485"/>
            <a:ext cx="10643870" cy="548132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ai</a:t>
            </a:r>
            <a:r>
              <a:rPr dirty="0"/>
              <a:t>智能</a:t>
            </a:r>
            <a:r>
              <a:rPr dirty="0"/>
              <a:t>影像辅助</a:t>
            </a:r>
            <a:r>
              <a:rPr dirty="0"/>
              <a:t>效果</a:t>
            </a:r>
            <a:endParaRPr dirty="0"/>
          </a:p>
        </p:txBody>
      </p:sp>
      <p:pic>
        <p:nvPicPr>
          <p:cNvPr id="4" name="图片 3"/>
          <p:cNvPicPr>
            <a:picLocks noChangeAspect="1"/>
          </p:cNvPicPr>
          <p:nvPr>
            <p:custDataLst>
              <p:tags r:id="rId1"/>
            </p:custDataLst>
          </p:nvPr>
        </p:nvPicPr>
        <p:blipFill>
          <a:blip r:embed="rId2"/>
          <a:stretch>
            <a:fillRect/>
          </a:stretch>
        </p:blipFill>
        <p:spPr>
          <a:xfrm>
            <a:off x="774065" y="1082040"/>
            <a:ext cx="10643235" cy="549275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22605" y="170180"/>
            <a:ext cx="7362825" cy="632460"/>
          </a:xfrm>
        </p:spPr>
        <p:txBody>
          <a:bodyPr/>
          <a:lstStyle/>
          <a:p>
            <a:r>
              <a:rPr dirty="0"/>
              <a:t>用户管理</a:t>
            </a:r>
            <a:r>
              <a:rPr dirty="0"/>
              <a:t>实现</a:t>
            </a:r>
            <a:endParaRPr dirty="0"/>
          </a:p>
        </p:txBody>
      </p:sp>
      <p:sp>
        <p:nvSpPr>
          <p:cNvPr id="3" name="文本框 2"/>
          <p:cNvSpPr txBox="1"/>
          <p:nvPr/>
        </p:nvSpPr>
        <p:spPr>
          <a:xfrm>
            <a:off x="522605" y="1258570"/>
            <a:ext cx="11279505" cy="5268595"/>
          </a:xfrm>
          <a:prstGeom prst="rect">
            <a:avLst/>
          </a:prstGeom>
          <a:noFill/>
        </p:spPr>
        <p:txBody>
          <a:bodyPr wrap="square" rtlCol="0">
            <a:noAutofit/>
          </a:bodyPr>
          <a:p>
            <a:pPr indent="0" fontAlgn="auto">
              <a:lnSpc>
                <a:spcPct val="150000"/>
              </a:lnSpc>
            </a:pPr>
            <a:r>
              <a:rPr lang="zh-CN" altLang="en-US" kern="100" dirty="0">
                <a:effectLst/>
                <a:latin typeface="宋体" pitchFamily="2" charset="-122"/>
                <a:ea typeface="宋体" pitchFamily="2" charset="-122"/>
              </a:rPr>
              <a:t>用户管理功能：实现用户的增删</a:t>
            </a:r>
            <a:r>
              <a:rPr lang="zh-CN" altLang="en-US" kern="100" dirty="0">
                <a:effectLst/>
                <a:latin typeface="宋体" pitchFamily="2" charset="-122"/>
                <a:ea typeface="宋体" pitchFamily="2" charset="-122"/>
              </a:rPr>
              <a:t>改查</a:t>
            </a:r>
            <a:endParaRPr lang="zh-CN" altLang="en-US" kern="100" dirty="0">
              <a:effectLst/>
              <a:latin typeface="宋体" pitchFamily="2" charset="-122"/>
              <a:ea typeface="宋体" pitchFamily="2" charset="-122"/>
            </a:endParaRPr>
          </a:p>
          <a:p>
            <a:pPr indent="0" fontAlgn="auto">
              <a:lnSpc>
                <a:spcPct val="150000"/>
              </a:lnSpc>
            </a:pPr>
            <a:r>
              <a:rPr lang="zh-CN" altLang="en-US" kern="100" dirty="0">
                <a:effectLst/>
                <a:latin typeface="宋体" pitchFamily="2" charset="-122"/>
                <a:ea typeface="宋体" pitchFamily="2" charset="-122"/>
              </a:rPr>
              <a:t>操作日志管理功能（通过切面编程</a:t>
            </a:r>
            <a:r>
              <a:rPr lang="en-US" altLang="zh-CN" kern="100" dirty="0">
                <a:effectLst/>
                <a:latin typeface="宋体" pitchFamily="2" charset="-122"/>
                <a:ea typeface="宋体" pitchFamily="2" charset="-122"/>
              </a:rPr>
              <a:t> AOP </a:t>
            </a:r>
            <a:r>
              <a:rPr lang="zh-CN" altLang="en-US" kern="100" dirty="0">
                <a:effectLst/>
                <a:latin typeface="宋体" pitchFamily="2" charset="-122"/>
                <a:ea typeface="宋体" pitchFamily="2" charset="-122"/>
              </a:rPr>
              <a:t>实现）</a:t>
            </a:r>
            <a:endParaRPr lang="zh-CN" altLang="en-US" kern="100" dirty="0">
              <a:effectLst/>
              <a:latin typeface="宋体" pitchFamily="2" charset="-122"/>
              <a:ea typeface="宋体" pitchFamily="2" charset="-122"/>
            </a:endParaRPr>
          </a:p>
          <a:p>
            <a:pPr indent="0" fontAlgn="auto">
              <a:lnSpc>
                <a:spcPct val="150000"/>
              </a:lnSpc>
            </a:pPr>
            <a:r>
              <a:rPr lang="zh-CN" altLang="en-US" kern="100" dirty="0">
                <a:effectLst/>
                <a:latin typeface="宋体" pitchFamily="2" charset="-122"/>
                <a:ea typeface="宋体" pitchFamily="2" charset="-122"/>
              </a:rPr>
              <a:t>（</a:t>
            </a:r>
            <a:r>
              <a:rPr lang="en-US" altLang="zh-CN" kern="100" dirty="0">
                <a:effectLst/>
                <a:latin typeface="宋体" pitchFamily="2" charset="-122"/>
                <a:ea typeface="宋体" pitchFamily="2" charset="-122"/>
              </a:rPr>
              <a:t>1</a:t>
            </a:r>
            <a:r>
              <a:rPr lang="zh-CN" altLang="en-US" kern="100" dirty="0">
                <a:effectLst/>
                <a:latin typeface="宋体" pitchFamily="2" charset="-122"/>
                <a:ea typeface="宋体" pitchFamily="2" charset="-122"/>
              </a:rPr>
              <a:t>）设置一个自定义注解</a:t>
            </a:r>
            <a:r>
              <a:rPr lang="en-US" altLang="zh-CN" kern="100" dirty="0">
                <a:effectLst/>
                <a:latin typeface="宋体" pitchFamily="2" charset="-122"/>
                <a:ea typeface="宋体" pitchFamily="2" charset="-122"/>
              </a:rPr>
              <a:t> </a:t>
            </a:r>
            <a:r>
              <a:rPr lang="zh-CN" altLang="en-US" kern="100" dirty="0">
                <a:effectLst/>
                <a:latin typeface="宋体" pitchFamily="2" charset="-122"/>
                <a:ea typeface="宋体" pitchFamily="2" charset="-122"/>
              </a:rPr>
              <a:t>OpLog.java，使用注解的</a:t>
            </a:r>
            <a:r>
              <a:rPr lang="en-US" altLang="zh-CN" kern="100" dirty="0">
                <a:effectLst/>
                <a:latin typeface="宋体" pitchFamily="2" charset="-122"/>
                <a:ea typeface="宋体" pitchFamily="2" charset="-122"/>
              </a:rPr>
              <a:t> value </a:t>
            </a:r>
            <a:r>
              <a:rPr lang="zh-CN" altLang="en-US" kern="100" dirty="0">
                <a:effectLst/>
                <a:latin typeface="宋体" pitchFamily="2" charset="-122"/>
                <a:ea typeface="宋体" pitchFamily="2" charset="-122"/>
              </a:rPr>
              <a:t>记录操作日志的</a:t>
            </a:r>
            <a:r>
              <a:rPr lang="zh-CN" altLang="en-US" kern="100" dirty="0">
                <a:effectLst/>
                <a:latin typeface="宋体" pitchFamily="2" charset="-122"/>
                <a:ea typeface="宋体" pitchFamily="2" charset="-122"/>
              </a:rPr>
              <a:t>内容。</a:t>
            </a:r>
            <a:endParaRPr lang="zh-CN" altLang="en-US" kern="100" dirty="0">
              <a:effectLst/>
              <a:latin typeface="宋体" pitchFamily="2" charset="-122"/>
              <a:ea typeface="宋体" pitchFamily="2" charset="-122"/>
            </a:endParaRPr>
          </a:p>
          <a:p>
            <a:pPr indent="0" fontAlgn="auto">
              <a:lnSpc>
                <a:spcPct val="150000"/>
              </a:lnSpc>
            </a:pPr>
            <a:r>
              <a:rPr lang="zh-CN" altLang="en-US" kern="100" dirty="0">
                <a:effectLst/>
                <a:latin typeface="宋体" pitchFamily="2" charset="-122"/>
                <a:ea typeface="宋体" pitchFamily="2" charset="-122"/>
              </a:rPr>
              <a:t>（</a:t>
            </a:r>
            <a:r>
              <a:rPr lang="en-US" altLang="zh-CN" kern="100" dirty="0">
                <a:effectLst/>
                <a:latin typeface="宋体" pitchFamily="2" charset="-122"/>
                <a:ea typeface="宋体" pitchFamily="2" charset="-122"/>
              </a:rPr>
              <a:t>2</a:t>
            </a:r>
            <a:r>
              <a:rPr lang="zh-CN" altLang="en-US" kern="100" dirty="0">
                <a:effectLst/>
                <a:latin typeface="宋体" pitchFamily="2" charset="-122"/>
                <a:ea typeface="宋体" pitchFamily="2" charset="-122"/>
              </a:rPr>
              <a:t>）OpLogAspect类是一个切面组件（@Aspect、@Component）注解被声明一个切面组件，@Pointcut("@annotation(com.tjetc.common.aop.OpLog)")定义了一个切入点，它会匹配所有被</a:t>
            </a:r>
            <a:r>
              <a:rPr lang="en-US" altLang="zh-CN" kern="100" dirty="0">
                <a:effectLst/>
                <a:latin typeface="宋体" pitchFamily="2" charset="-122"/>
                <a:ea typeface="宋体" pitchFamily="2" charset="-122"/>
              </a:rPr>
              <a:t>@OpLog</a:t>
            </a:r>
            <a:r>
              <a:rPr lang="zh-CN" altLang="en-US" kern="100" dirty="0">
                <a:effectLst/>
                <a:latin typeface="宋体" pitchFamily="2" charset="-122"/>
                <a:ea typeface="宋体" pitchFamily="2" charset="-122"/>
              </a:rPr>
              <a:t>注解标记的</a:t>
            </a:r>
            <a:r>
              <a:rPr lang="zh-CN" altLang="en-US" kern="100" dirty="0">
                <a:effectLst/>
                <a:latin typeface="宋体" pitchFamily="2" charset="-122"/>
                <a:ea typeface="宋体" pitchFamily="2" charset="-122"/>
              </a:rPr>
              <a:t>方法。</a:t>
            </a:r>
            <a:endParaRPr lang="zh-CN" altLang="en-US" kern="100" dirty="0">
              <a:effectLst/>
              <a:latin typeface="宋体" pitchFamily="2" charset="-122"/>
              <a:ea typeface="宋体" pitchFamily="2" charset="-122"/>
            </a:endParaRPr>
          </a:p>
          <a:p>
            <a:pPr indent="0" fontAlgn="auto">
              <a:lnSpc>
                <a:spcPct val="150000"/>
              </a:lnSpc>
            </a:pPr>
            <a:r>
              <a:rPr lang="zh-CN" altLang="en-US" kern="100" dirty="0">
                <a:effectLst/>
                <a:latin typeface="宋体" pitchFamily="2" charset="-122"/>
                <a:ea typeface="宋体" pitchFamily="2" charset="-122"/>
              </a:rPr>
              <a:t>（</a:t>
            </a:r>
            <a:r>
              <a:rPr lang="en-US" altLang="zh-CN" kern="100" dirty="0">
                <a:effectLst/>
                <a:latin typeface="宋体" pitchFamily="2" charset="-122"/>
                <a:ea typeface="宋体" pitchFamily="2" charset="-122"/>
              </a:rPr>
              <a:t>3</a:t>
            </a:r>
            <a:r>
              <a:rPr lang="zh-CN" altLang="en-US" kern="100" dirty="0">
                <a:effectLst/>
                <a:latin typeface="宋体" pitchFamily="2" charset="-122"/>
                <a:ea typeface="宋体" pitchFamily="2" charset="-122"/>
              </a:rPr>
              <a:t>）</a:t>
            </a:r>
            <a:r>
              <a:rPr lang="en-US" altLang="zh-CN" kern="100" dirty="0">
                <a:effectLst/>
                <a:latin typeface="宋体" pitchFamily="2" charset="-122"/>
                <a:ea typeface="宋体" pitchFamily="2" charset="-122"/>
              </a:rPr>
              <a:t>@Around("opLogPt()") </a:t>
            </a:r>
            <a:r>
              <a:rPr lang="zh-CN" altLang="en-US" kern="100" dirty="0">
                <a:effectLst/>
                <a:latin typeface="宋体" pitchFamily="2" charset="-122"/>
                <a:ea typeface="宋体" pitchFamily="2" charset="-122"/>
              </a:rPr>
              <a:t>注解可以使得</a:t>
            </a:r>
            <a:r>
              <a:rPr lang="en-US" altLang="zh-CN" kern="100" dirty="0">
                <a:effectLst/>
                <a:latin typeface="宋体" pitchFamily="2" charset="-122"/>
                <a:ea typeface="宋体" pitchFamily="2" charset="-122"/>
              </a:rPr>
              <a:t>Around </a:t>
            </a:r>
            <a:r>
              <a:rPr lang="zh-CN" altLang="en-US" kern="100" dirty="0">
                <a:effectLst/>
                <a:latin typeface="宋体" pitchFamily="2" charset="-122"/>
                <a:ea typeface="宋体" pitchFamily="2" charset="-122"/>
              </a:rPr>
              <a:t>方法可以使得在被注解标注的方法执行之前</a:t>
            </a:r>
            <a:r>
              <a:rPr lang="zh-CN" altLang="en-US" kern="100" dirty="0">
                <a:effectLst/>
                <a:latin typeface="宋体" pitchFamily="2" charset="-122"/>
                <a:ea typeface="宋体" pitchFamily="2" charset="-122"/>
              </a:rPr>
              <a:t>执行。</a:t>
            </a:r>
            <a:endParaRPr lang="zh-CN" altLang="en-US" kern="100" dirty="0">
              <a:effectLst/>
              <a:latin typeface="宋体" pitchFamily="2" charset="-122"/>
              <a:ea typeface="宋体" pitchFamily="2" charset="-122"/>
            </a:endParaRPr>
          </a:p>
          <a:p>
            <a:pPr indent="0" fontAlgn="auto">
              <a:lnSpc>
                <a:spcPct val="150000"/>
              </a:lnSpc>
            </a:pPr>
            <a:r>
              <a:rPr lang="zh-CN" altLang="en-US" kern="100" dirty="0">
                <a:effectLst/>
                <a:latin typeface="宋体" pitchFamily="2" charset="-122"/>
                <a:ea typeface="宋体" pitchFamily="2" charset="-122"/>
              </a:rPr>
              <a:t>执行</a:t>
            </a:r>
            <a:r>
              <a:rPr lang="zh-CN" altLang="en-US" kern="100" dirty="0">
                <a:effectLst/>
                <a:latin typeface="宋体" pitchFamily="2" charset="-122"/>
                <a:ea typeface="宋体" pitchFamily="2" charset="-122"/>
              </a:rPr>
              <a:t>过程：</a:t>
            </a:r>
            <a:endParaRPr lang="zh-CN" altLang="en-US" kern="100" dirty="0">
              <a:effectLst/>
              <a:latin typeface="宋体" pitchFamily="2" charset="-122"/>
              <a:ea typeface="宋体" pitchFamily="2" charset="-122"/>
            </a:endParaRPr>
          </a:p>
          <a:p>
            <a:pPr indent="0" fontAlgn="auto">
              <a:lnSpc>
                <a:spcPct val="150000"/>
              </a:lnSpc>
            </a:pPr>
            <a:r>
              <a:rPr lang="zh-CN" altLang="en-US" kern="100" dirty="0">
                <a:effectLst/>
                <a:latin typeface="宋体" pitchFamily="2" charset="-122"/>
                <a:ea typeface="宋体" pitchFamily="2" charset="-122"/>
              </a:rPr>
              <a:t>（</a:t>
            </a:r>
            <a:r>
              <a:rPr lang="en-US" altLang="zh-CN" kern="100" dirty="0">
                <a:effectLst/>
                <a:latin typeface="宋体" pitchFamily="2" charset="-122"/>
                <a:ea typeface="宋体" pitchFamily="2" charset="-122"/>
              </a:rPr>
              <a:t>1</a:t>
            </a:r>
            <a:r>
              <a:rPr lang="zh-CN" altLang="en-US" kern="100" dirty="0">
                <a:effectLst/>
                <a:latin typeface="宋体" pitchFamily="2" charset="-122"/>
                <a:ea typeface="宋体" pitchFamily="2" charset="-122"/>
              </a:rPr>
              <a:t>）当执行一个@OpLog注解的方法被调用后，</a:t>
            </a:r>
            <a:r>
              <a:rPr lang="zh-CN" altLang="en-US" kern="100" dirty="0">
                <a:effectLst/>
                <a:latin typeface="宋体" pitchFamily="2" charset="-122"/>
                <a:ea typeface="宋体" pitchFamily="2" charset="-122"/>
              </a:rPr>
              <a:t>会触发OpLogAspect 的 around 方法</a:t>
            </a:r>
            <a:endParaRPr lang="zh-CN" altLang="en-US" kern="100" dirty="0">
              <a:effectLst/>
              <a:latin typeface="宋体" pitchFamily="2" charset="-122"/>
              <a:ea typeface="宋体" pitchFamily="2" charset="-122"/>
            </a:endParaRPr>
          </a:p>
          <a:p>
            <a:pPr indent="0" fontAlgn="auto">
              <a:lnSpc>
                <a:spcPct val="150000"/>
              </a:lnSpc>
            </a:pPr>
            <a:r>
              <a:rPr lang="zh-CN" altLang="en-US" kern="100" dirty="0">
                <a:effectLst/>
                <a:latin typeface="宋体" pitchFamily="2" charset="-122"/>
                <a:ea typeface="宋体" pitchFamily="2" charset="-122"/>
              </a:rPr>
              <a:t>（</a:t>
            </a:r>
            <a:r>
              <a:rPr lang="en-US" altLang="zh-CN" kern="100" dirty="0">
                <a:effectLst/>
                <a:latin typeface="宋体" pitchFamily="2" charset="-122"/>
                <a:ea typeface="宋体" pitchFamily="2" charset="-122"/>
              </a:rPr>
              <a:t>2</a:t>
            </a:r>
            <a:r>
              <a:rPr lang="zh-CN" altLang="en-US" kern="100" dirty="0">
                <a:effectLst/>
                <a:latin typeface="宋体" pitchFamily="2" charset="-122"/>
                <a:ea typeface="宋体" pitchFamily="2" charset="-122"/>
              </a:rPr>
              <a:t>）</a:t>
            </a:r>
            <a:r>
              <a:rPr lang="en-US" altLang="zh-CN" kern="100" dirty="0">
                <a:effectLst/>
                <a:latin typeface="宋体" pitchFamily="2" charset="-122"/>
                <a:ea typeface="宋体" pitchFamily="2" charset="-122"/>
              </a:rPr>
              <a:t>around</a:t>
            </a:r>
            <a:r>
              <a:rPr lang="zh-CN" altLang="en-US" kern="100" dirty="0">
                <a:effectLst/>
                <a:latin typeface="宋体" pitchFamily="2" charset="-122"/>
                <a:ea typeface="宋体" pitchFamily="2" charset="-122"/>
              </a:rPr>
              <a:t>方法内部会提取出</a:t>
            </a:r>
            <a:r>
              <a:rPr lang="en-US" altLang="zh-CN" kern="100" dirty="0">
                <a:effectLst/>
                <a:latin typeface="宋体" pitchFamily="2" charset="-122"/>
                <a:ea typeface="宋体" pitchFamily="2" charset="-122"/>
              </a:rPr>
              <a:t>HTTP</a:t>
            </a:r>
            <a:r>
              <a:rPr lang="zh-CN" altLang="en-US" kern="100" dirty="0">
                <a:effectLst/>
                <a:latin typeface="宋体" pitchFamily="2" charset="-122"/>
                <a:ea typeface="宋体" pitchFamily="2" charset="-122"/>
              </a:rPr>
              <a:t>请求中的各种信息（</a:t>
            </a:r>
            <a:r>
              <a:rPr lang="en-US" altLang="zh-CN" kern="100" dirty="0">
                <a:effectLst/>
                <a:latin typeface="宋体" pitchFamily="2" charset="-122"/>
                <a:ea typeface="宋体" pitchFamily="2" charset="-122"/>
              </a:rPr>
              <a:t>token</a:t>
            </a:r>
            <a:r>
              <a:rPr lang="zh-CN" altLang="en-US" kern="100" dirty="0">
                <a:effectLst/>
                <a:latin typeface="宋体" pitchFamily="2" charset="-122"/>
                <a:ea typeface="宋体" pitchFamily="2" charset="-122"/>
              </a:rPr>
              <a:t>，通过反射获得</a:t>
            </a:r>
            <a:r>
              <a:rPr lang="en-US" altLang="zh-CN" kern="100" dirty="0">
                <a:effectLst/>
                <a:latin typeface="宋体" pitchFamily="2" charset="-122"/>
                <a:ea typeface="宋体" pitchFamily="2" charset="-122"/>
              </a:rPr>
              <a:t>@OpLog</a:t>
            </a:r>
            <a:r>
              <a:rPr lang="zh-CN" altLang="en-US" kern="100" dirty="0">
                <a:effectLst/>
                <a:latin typeface="宋体" pitchFamily="2" charset="-122"/>
                <a:ea typeface="宋体" pitchFamily="2" charset="-122"/>
              </a:rPr>
              <a:t>注解的内容，用户</a:t>
            </a:r>
            <a:r>
              <a:rPr lang="en-US" altLang="zh-CN" kern="100" dirty="0">
                <a:effectLst/>
                <a:latin typeface="宋体" pitchFamily="2" charset="-122"/>
                <a:ea typeface="宋体" pitchFamily="2" charset="-122"/>
              </a:rPr>
              <a:t>ip</a:t>
            </a:r>
            <a:r>
              <a:rPr lang="zh-CN" altLang="en-US" kern="100" dirty="0">
                <a:effectLst/>
                <a:latin typeface="宋体" pitchFamily="2" charset="-122"/>
                <a:ea typeface="宋体" pitchFamily="2" charset="-122"/>
              </a:rPr>
              <a:t>地址）</a:t>
            </a:r>
            <a:endParaRPr lang="zh-CN" altLang="en-US" kern="100" dirty="0">
              <a:effectLst/>
              <a:latin typeface="宋体" pitchFamily="2" charset="-122"/>
              <a:ea typeface="宋体" pitchFamily="2" charset="-122"/>
            </a:endParaRPr>
          </a:p>
          <a:p>
            <a:pPr indent="0" fontAlgn="auto">
              <a:lnSpc>
                <a:spcPct val="150000"/>
              </a:lnSpc>
            </a:pPr>
            <a:r>
              <a:rPr lang="zh-CN" altLang="en-US" kern="100" dirty="0">
                <a:effectLst/>
                <a:latin typeface="宋体" pitchFamily="2" charset="-122"/>
                <a:ea typeface="宋体" pitchFamily="2" charset="-122"/>
              </a:rPr>
              <a:t>（</a:t>
            </a:r>
            <a:r>
              <a:rPr lang="en-US" altLang="zh-CN" kern="100" dirty="0">
                <a:effectLst/>
                <a:latin typeface="宋体" pitchFamily="2" charset="-122"/>
                <a:ea typeface="宋体" pitchFamily="2" charset="-122"/>
              </a:rPr>
              <a:t>3</a:t>
            </a:r>
            <a:r>
              <a:rPr lang="zh-CN" altLang="en-US" kern="100" dirty="0">
                <a:effectLst/>
                <a:latin typeface="宋体" pitchFamily="2" charset="-122"/>
                <a:ea typeface="宋体" pitchFamily="2" charset="-122"/>
              </a:rPr>
              <a:t>）创建日志对象，将对象存入到</a:t>
            </a:r>
            <a:r>
              <a:rPr lang="en-US" altLang="zh-CN" kern="100" dirty="0">
                <a:effectLst/>
                <a:latin typeface="宋体" pitchFamily="2" charset="-122"/>
                <a:ea typeface="宋体" pitchFamily="2" charset="-122"/>
              </a:rPr>
              <a:t>operation</a:t>
            </a:r>
            <a:r>
              <a:rPr lang="zh-CN" altLang="en-US" kern="100" dirty="0">
                <a:effectLst/>
                <a:latin typeface="宋体" pitchFamily="2" charset="-122"/>
                <a:ea typeface="宋体" pitchFamily="2" charset="-122"/>
              </a:rPr>
              <a:t>表</a:t>
            </a:r>
            <a:r>
              <a:rPr lang="zh-CN" altLang="en-US" kern="100" dirty="0">
                <a:effectLst/>
                <a:latin typeface="宋体" pitchFamily="2" charset="-122"/>
                <a:ea typeface="宋体" pitchFamily="2" charset="-122"/>
              </a:rPr>
              <a:t>中。</a:t>
            </a:r>
            <a:endParaRPr lang="zh-CN" altLang="en-US" kern="100" dirty="0">
              <a:effectLst/>
              <a:latin typeface="宋体" pitchFamily="2" charset="-122"/>
              <a:ea typeface="宋体" pitchFamily="2" charset="-122"/>
            </a:endParaRPr>
          </a:p>
          <a:p>
            <a:pPr indent="0" fontAlgn="auto">
              <a:lnSpc>
                <a:spcPct val="150000"/>
              </a:lnSpc>
            </a:pPr>
            <a:r>
              <a:rPr lang="zh-CN" altLang="en-US" kern="100" dirty="0">
                <a:effectLst/>
                <a:latin typeface="宋体" pitchFamily="2" charset="-122"/>
                <a:ea typeface="宋体" pitchFamily="2" charset="-122"/>
              </a:rPr>
              <a:t>（</a:t>
            </a:r>
            <a:r>
              <a:rPr lang="en-US" altLang="zh-CN" kern="100" dirty="0">
                <a:effectLst/>
                <a:latin typeface="宋体" pitchFamily="2" charset="-122"/>
                <a:ea typeface="宋体" pitchFamily="2" charset="-122"/>
              </a:rPr>
              <a:t>4</a:t>
            </a:r>
            <a:r>
              <a:rPr lang="zh-CN" altLang="en-US" kern="100" dirty="0">
                <a:effectLst/>
                <a:latin typeface="宋体" pitchFamily="2" charset="-122"/>
                <a:ea typeface="宋体" pitchFamily="2" charset="-122"/>
              </a:rPr>
              <a:t>）调用</a:t>
            </a:r>
            <a:r>
              <a:rPr lang="en-US" altLang="zh-CN" kern="100" dirty="0">
                <a:effectLst/>
                <a:latin typeface="宋体" pitchFamily="2" charset="-122"/>
                <a:ea typeface="宋体" pitchFamily="2" charset="-122"/>
              </a:rPr>
              <a:t> </a:t>
            </a:r>
            <a:r>
              <a:rPr lang="zh-CN" altLang="en-US" kern="100" dirty="0">
                <a:effectLst/>
                <a:latin typeface="宋体" pitchFamily="2" charset="-122"/>
                <a:ea typeface="宋体" pitchFamily="2" charset="-122"/>
              </a:rPr>
              <a:t>joinPoint.proceed() 来执行原始的业务方法。</a:t>
            </a:r>
            <a:endParaRPr lang="zh-CN" altLang="en-US" kern="100" dirty="0">
              <a:effectLst/>
              <a:latin typeface="宋体" pitchFamily="2" charset="-122"/>
              <a:ea typeface="宋体"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22605" y="170180"/>
            <a:ext cx="7362825" cy="632460"/>
          </a:xfrm>
        </p:spPr>
        <p:txBody>
          <a:bodyPr/>
          <a:lstStyle/>
          <a:p>
            <a:r>
              <a:rPr dirty="0"/>
              <a:t>用户管理效果</a:t>
            </a:r>
            <a:r>
              <a:rPr dirty="0"/>
              <a:t>图</a:t>
            </a:r>
            <a:endParaRPr dirty="0"/>
          </a:p>
        </p:txBody>
      </p:sp>
      <p:pic>
        <p:nvPicPr>
          <p:cNvPr id="4" name="图片 3"/>
          <p:cNvPicPr>
            <a:picLocks noChangeAspect="1"/>
          </p:cNvPicPr>
          <p:nvPr>
            <p:custDataLst>
              <p:tags r:id="rId1"/>
            </p:custDataLst>
          </p:nvPr>
        </p:nvPicPr>
        <p:blipFill>
          <a:blip r:embed="rId2"/>
          <a:stretch>
            <a:fillRect/>
          </a:stretch>
        </p:blipFill>
        <p:spPr>
          <a:xfrm>
            <a:off x="522605" y="1583055"/>
            <a:ext cx="9768840" cy="4907915"/>
          </a:xfrm>
          <a:prstGeom prst="rect">
            <a:avLst/>
          </a:prstGeom>
        </p:spPr>
      </p:pic>
      <p:sp>
        <p:nvSpPr>
          <p:cNvPr id="5" name="文本框 4"/>
          <p:cNvSpPr txBox="1"/>
          <p:nvPr/>
        </p:nvSpPr>
        <p:spPr>
          <a:xfrm>
            <a:off x="522605" y="1078230"/>
            <a:ext cx="4064000" cy="368300"/>
          </a:xfrm>
          <a:prstGeom prst="rect">
            <a:avLst/>
          </a:prstGeom>
          <a:noFill/>
        </p:spPr>
        <p:txBody>
          <a:bodyPr wrap="square" rtlCol="0">
            <a:spAutoFit/>
          </a:bodyPr>
          <a:p>
            <a:r>
              <a:rPr lang="zh-CN" altLang="en-US"/>
              <a:t>用户管理</a:t>
            </a:r>
            <a:r>
              <a:rPr lang="zh-CN" altLang="en-US"/>
              <a:t>页面</a:t>
            </a:r>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22605" y="170180"/>
            <a:ext cx="7362825" cy="632460"/>
          </a:xfrm>
        </p:spPr>
        <p:txBody>
          <a:bodyPr/>
          <a:lstStyle/>
          <a:p>
            <a:r>
              <a:rPr dirty="0"/>
              <a:t>用户管理效果</a:t>
            </a:r>
            <a:r>
              <a:rPr dirty="0"/>
              <a:t>图</a:t>
            </a:r>
            <a:endParaRPr dirty="0"/>
          </a:p>
        </p:txBody>
      </p:sp>
      <p:sp>
        <p:nvSpPr>
          <p:cNvPr id="5" name="文本框 4"/>
          <p:cNvSpPr txBox="1"/>
          <p:nvPr/>
        </p:nvSpPr>
        <p:spPr>
          <a:xfrm>
            <a:off x="522605" y="1078230"/>
            <a:ext cx="4064000" cy="368300"/>
          </a:xfrm>
          <a:prstGeom prst="rect">
            <a:avLst/>
          </a:prstGeom>
          <a:noFill/>
        </p:spPr>
        <p:txBody>
          <a:bodyPr wrap="square" rtlCol="0">
            <a:spAutoFit/>
          </a:bodyPr>
          <a:p>
            <a:r>
              <a:rPr lang="zh-CN" altLang="en-US"/>
              <a:t>用户操作</a:t>
            </a:r>
            <a:r>
              <a:rPr lang="zh-CN" altLang="en-US"/>
              <a:t>日志</a:t>
            </a:r>
            <a:endParaRPr lang="zh-CN" altLang="en-US"/>
          </a:p>
        </p:txBody>
      </p:sp>
      <p:pic>
        <p:nvPicPr>
          <p:cNvPr id="3" name="图片 2"/>
          <p:cNvPicPr>
            <a:picLocks noChangeAspect="1"/>
          </p:cNvPicPr>
          <p:nvPr>
            <p:custDataLst>
              <p:tags r:id="rId1"/>
            </p:custDataLst>
          </p:nvPr>
        </p:nvPicPr>
        <p:blipFill>
          <a:blip r:embed="rId2"/>
          <a:stretch>
            <a:fillRect/>
          </a:stretch>
        </p:blipFill>
        <p:spPr>
          <a:xfrm>
            <a:off x="522605" y="1446530"/>
            <a:ext cx="9959975" cy="510984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PP_MARK_KEY" val="5efe8f2d-4170-4b11-8f12-6db379f73acf"/>
  <p:tag name="COMMONDATA" val="eyJoZGlkIjoiMWY3YTRkYTI2NGZlYzE3ZjkzZTI3NWY4YWRkYTRjYm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3704</Words>
  <Application>WPS 文字</Application>
  <PresentationFormat>宽屏</PresentationFormat>
  <Paragraphs>149</Paragraphs>
  <Slides>27</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27</vt:i4>
      </vt:variant>
    </vt:vector>
  </HeadingPairs>
  <TitlesOfParts>
    <vt:vector size="44" baseType="lpstr">
      <vt:lpstr>Arial</vt:lpstr>
      <vt:lpstr>宋体</vt:lpstr>
      <vt:lpstr>Wingdings</vt:lpstr>
      <vt:lpstr>微软雅黑</vt:lpstr>
      <vt:lpstr>汉仪旗黑</vt:lpstr>
      <vt:lpstr>华文行楷</vt:lpstr>
      <vt:lpstr>行楷-简</vt:lpstr>
      <vt:lpstr>汉仪书宋二KW</vt:lpstr>
      <vt:lpstr>Times New Roman</vt:lpstr>
      <vt:lpstr>黑体</vt:lpstr>
      <vt:lpstr>Calibri</vt:lpstr>
      <vt:lpstr>Helvetica Neue</vt:lpstr>
      <vt:lpstr>宋体</vt:lpstr>
      <vt:lpstr>Arial Unicode MS</vt:lpstr>
      <vt:lpstr>汉仪中黑KW</vt:lpstr>
      <vt:lpstr>微软雅黑</vt:lpstr>
      <vt:lpstr>Office 主题</vt:lpstr>
      <vt:lpstr>PowerPoint 演示文稿</vt:lpstr>
      <vt:lpstr>项目背景</vt:lpstr>
      <vt:lpstr>项目背景</vt:lpstr>
      <vt:lpstr>系统业务流程</vt:lpstr>
      <vt:lpstr>系统业务流程</vt:lpstr>
      <vt:lpstr>患者预约实现</vt:lpstr>
      <vt:lpstr>患者预约实现</vt:lpstr>
      <vt:lpstr>患者预约与管理</vt:lpstr>
      <vt:lpstr>患者预约效果图</vt:lpstr>
      <vt:lpstr>患者预约效果图</vt:lpstr>
      <vt:lpstr>患者预约效果图</vt:lpstr>
      <vt:lpstr>患者预约实现原理</vt:lpstr>
      <vt:lpstr>上传影像功能原理</vt:lpstr>
      <vt:lpstr>上传影像功能原理</vt:lpstr>
      <vt:lpstr>影像管理原理</vt:lpstr>
      <vt:lpstr>报告管理效果图</vt:lpstr>
      <vt:lpstr>报告管理实现</vt:lpstr>
      <vt:lpstr>报告管理实现</vt:lpstr>
      <vt:lpstr>报告管理效果图</vt:lpstr>
      <vt:lpstr>实时聊天实现</vt:lpstr>
      <vt:lpstr>ai智能辅助效果</vt:lpstr>
      <vt:lpstr>ai智能辅助</vt:lpstr>
      <vt:lpstr>ai智能辅助效果</vt:lpstr>
      <vt:lpstr>ai智能影像辅助效果</vt:lpstr>
      <vt:lpstr>用户管理实现</vt:lpstr>
      <vt:lpstr>用户管理效果图</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WPS_1668776266</cp:lastModifiedBy>
  <cp:revision>403</cp:revision>
  <dcterms:created xsi:type="dcterms:W3CDTF">2025-09-09T11:24:39Z</dcterms:created>
  <dcterms:modified xsi:type="dcterms:W3CDTF">2025-09-09T11:24:39Z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D6B64AA597DF49FCA4B4AF4B33A8D0BB_13</vt:lpwstr>
  </property>
  <property fmtid="{D5CDD505-2E9C-101B-9397-08002B2CF9AE}" pid="3" name="KSOProductBuildVer">
    <vt:lpwstr>2052-6.7.1.8828</vt:lpwstr>
  </property>
</Properties>
</file>